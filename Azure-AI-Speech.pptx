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(USD)</c:v>
                </c:pt>
              </c:strCache>
            </c:strRef>
          </c:tx>
          <c:spPr>
            <a:solidFill>
              <a:srgbClr val="2D1B69"/>
            </a:solidFill>
            <a:effectLst/>
          </c:spPr>
          <c:invertIfNegative val="0"/>
          <c:dLbls>
            <c:numFmt formatCode="$#,##0" sourceLinked="0"/>
            <c:txPr>
              <a:bodyPr/>
              <a:lstStyle/>
              <a:p>
                <a:pPr>
                  <a:defRPr b="0" i="0" strike="noStrike" sz="1100" u="none">
                    <a:solidFill>
                      <a:srgbClr val="1F2330"/>
                    </a:solidFill>
                    <a:latin typeface="Arial"/>
                  </a:defRPr>
                </a:pPr>
              </a:p>
            </c:txPr>
            <c:showLegendKey val="0"/>
            <c:showVal val="1"/>
            <c:showCatName val="0"/>
            <c:showSerName val="0"/>
            <c:showPercent val="0"/>
            <c:showBubbleSize val="0"/>
            <c:showLeaderLines val="0"/>
          </c:dLbls>
          <c:cat>
            <c:multiLvlStrRef>
              <c:f>Sheet1!$A$2:$A$5</c:f>
              <c:multiLvlStrCache>
                <c:ptCount val="4"/>
                <c:lvl>
                  <c:pt idx="0">
                    <c:v>Speech real-time STT</c:v>
                  </c:pt>
                  <c:pt idx="1">
                    <c:v>Fast transcription</c:v>
                  </c:pt>
                  <c:pt idx="2">
                    <c:v>gpt-4o-transcribe</c:v>
                  </c:pt>
                  <c:pt idx="3">
                    <c:v>gpt-4o-mini-transcribe</c:v>
                  </c:pt>
                </c:lvl>
              </c:multiLvlStrCache>
            </c:multiLvlStrRef>
          </c:cat>
          <c:val>
            <c:numRef>
              <c:f>Sheet1!$B$2:$B$5</c:f>
              <c:numCache>
                <c:formatCode>General</c:formatCode>
                <c:ptCount val="4"/>
                <c:pt idx="0">
                  <c:v>100</c:v>
                </c:pt>
                <c:pt idx="1">
                  <c:v>36</c:v>
                </c:pt>
                <c:pt idx="2">
                  <c:v>36</c:v>
                </c:pt>
                <c:pt idx="3">
                  <c:v>18</c:v>
                </c:pt>
              </c:numCache>
            </c:numRef>
          </c:val>
        </c:ser>
        <c:dLbls>
          <c:numFmt formatCode="$#,##0" sourceLinked="0"/>
          <c:txPr>
            <a:bodyPr/>
            <a:lstStyle/>
            <a:p>
              <a:pPr>
                <a:defRPr b="0" i="0" strike="noStrike" sz="1100" u="none">
                  <a:solidFill>
                    <a:srgbClr val="1F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3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all about giving our AI apps a voice — and ears.
By the end of this session you will be able to: convert speech to text, generate natural speech from text, control that speech with SSML, translate text and speech between languages, and build a real-time voice agent with Voice Live.
We will see two families of tools: the OpenAI audio models in Foundry, and the classic Azure Speech service. Knowing when to pick which is an exam favourite, so keep that question in mind throughout.
Everything is hands-on: every concept has a numbered Python demo in the repo, 01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We start with the big picture — there are two different ways to do speech on Azure — then go deep on each.
Blocks 2 to 5 are demo-heavy. Block 6 covers cost, security and the decision framework, which is what you need both for real projects and for the AI-103 / AI-102 exam.
Timing guide: roughly 15 minutes per block, with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framing slide of the session.
Left: OpenAI audio models. You deploy them into your Foundry resource like any chat model. They understand language, so you can steer the voice with an instruction like "speak in a funny tone", or ask questions about audio.
Right: Azure Speech. A mature, built-in service — nothing to deploy. Huge voice and language catalogue, SSML control, streaming recognition from a microphone, translation, and customisation.
Both live on the SAME Foundry resource — the one we use today hosts all of it.
Exam tip: questions like "you need SSML / custom voice / 100+ languages" point to Azure Speech. "Summarise a call recording" or "steer tone with a prompt" point to the GPT audio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cheat-sheet of today's models. Don't memorise versions — they change every few months. Memorise the CATEGORIES.
Worth pointing out:
- gpt-4o-mini-tts and gpt-4o-mini-transcribe both got 2025-12-15 refreshes with better accuracy.
- gpt-4o-transcribe-diarize adds speaker labels.
- MAI-Voice and MAI-Transcribe are Microsoft's own in-house models, in preview. MAI-Voice uses the same Speech SDK and SSML — you just change the voice name.
- Whisper is the only OpenAI model that translates audio, and only INTO English.
In the Foundry portal you can filter the model catalogue by capability — speech — not just by model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everyone set up before the first demo so we don't lose time on 401 errors later.
One Foundry resource hosts everything: the OpenAI deployments and the Speech and Translator APIs.
The role assignment matters: scripts that use DefaultAzureCredential (keyless) need "Cognitive Services User" on the resource, otherwise you get 401/403 even though az login succeeded.
Note: PyAudio does not install on Python 3.14 — our Voice Live demo uses the sounddevice package instead.
Security habit from day one: keys go in .env which is git-ignored — never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OpenAI audio models — the "GenAI-native" way to do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pattern: the plain OpenAI Python client pointed at your Azure endpoint plus /openai/v1/. No api-version juggling.
Auth is keyless — we pass an Entra ID bearer token as the api_key.
The killer feature is "instructions": the same text can be spoken cheerfully, sadly, like a sports commentator. Classic TTS can't do that without SSML styles.
DEMO: run 01. Then change instructions to "Speak sadly and slowly" and run it again so students hear the difference.
This creates speech.mp3, which demos 02, 03 and 12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call the exact same endpoint. REST shows students what is really happening on the wire: a multipart POST with the audio file. The SDK is what you'd use in practice.
Both use Entra ID. Note the sign-in scope: https://cognitiveservices.azure.com/.default.
Limits: file-based, 25 MB per request. For live microphone streaming use the Speech SDK or the Realtime API instead.
DEMO: run 02 then 03 — both print the sentence we generated in demo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Diarization answers "who spoke when". Great for meetings, interviews, call centres.
The demo first builds a two-person conversation with SSML — two different neural voices — then transcribes it with speaker labels.
Key teaching point: the model says "Speaker A" and "Speaker B". It does NOT know who they are. Identifying a named person from their voice is speaker recognition — a separate, restricted capability.
Note response_format="diarized_json" and chunking_strategy="auto" — both required for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Transcription gives you words. An audio chat model gives you understanding: summarise this call, what's the customer's sentiment, what did they ask for.
Audio goes into the normal chat completions API as an input_audio content part, base64-encoded.
Classroom moment: the model answers "Sandeep Soni, AI teacher, friendly tone". Ask the class how it knew. Answer: name and role are literally in the audio. Only the TONE comes from listening to the voice. The voice is actually synthetic — "ballad" from demo 01.
Try: "Describe the speaker's voice, ignore the words" — that can only be answered from the sound.
This maps to the AI-103 skill "enable multimodal reasoning from audio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classic Azure Speech service through its SDK. This is what you use for microphones, streaming, many languages and SSML.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remember ONE thing about the Speech SDK, it's this five-step pattern. It's identical for recognition, synthesis and translation — only the class names change.
1 SpeechConfig — where and who: endpoint plus key, or a token credential.
2 AudioConfig — the input or output device: default mic or speaker, or a file.
3 The client: SpeechRecognizer, SpeechSynthesizer, or TranslationRecognizer.
4 Call it. The C# names are RecognizeOnceAsync / SpeakTextAsync; in Python they're recognize_once_async() and speak_text_async(), followed by .get() to wait.
5 Read the result — always check result.reason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has a reason. Check it before reading text.
NoMatch is NOT an error — the service was reached but heard nothing usable. Usually silence, wrong recognition language, or a muted mic.
Canceled IS an error — wrong key, wrong endpoint, network issue. Always print cancellation_details.error_details; it tells you exactly what's wrong.
Common gotcha: Duration is in 100-nanosecond ticks, not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04 is a small menu: option 1 synthesises a greeting to voice.wav and plays it; option 4 transcribes that file; option 2 uses the microphone.
Point out: recognize_once stops at the first pause. In our test it returned only "Hi, Adam here." — the first sentence. That's expected behaviour, not a bug.
For anything longer use continuous recognition (demo 05): subscribe to events, start, stop. "recognizing" fires with partial hypotheses — great for live captions — and "recognized" fires with the final text.
Production tip: also handle canceled and session_stopped, otherwise errors look like "nothing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SSML is XML that tells the synthesizer exactly how to speak. It's the Speech-service answer to "instructions" in gpt-4o-mini-tts, with much finer control.
Walk through the snippet: speaking style via mstts:express-as, a pause, slower speech with higher pitch, a date read naturally, and a second voice in the same document.
Demo 06 uses two voices — British and Indian accents — to make the point audible.
Use speak_ssml_async instead of speak_text_async. Always escape user text before inserting it into SSML (xml.sax.saxutils.escape) — the demo does this.
Exam: "improve text-to-speech by using SSML" is an explicit AI-102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extras.
Language identification: give up to four candidate languages and the service tells you which one is spoken. Our demo detects Hindi correctly. Useful for multilingual support lines.
Phrase list: a runtime hint list of words the recogniser should prefer — product names, people's names, jargon. No training, instant. If that's not enough you move to Custom Speech: train a model on your own audio and text. Custom speech is explicitly listed in both AI-102 and AI-103.
Honest note: in our Hindi test the phrase list didn't fix "Azure" — phrase lists work best in the same language as the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first text with Azure Translator, then speech-to-speech with the Speech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confusion. Translation changes the language: Hindi to English. Transliteration keeps the language but changes the alphabet: Devanagari to Latin letters, so a non-Hindi reader can pronounce it.
Translator also detects the source language automatically, and supports dictionaries and document translation.
Demo 07: type an English sentence and get Hindi plus the romanised version, e.g. "Main theek hoon, aap kaise hain?".
Gotcha we hit while preparing: the Translator SDK 2.0 no longer accepts InputTextItem objects and returns 404 on custom endpoints. requirements.txt pins it below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five-step pattern, with SpeechTranslationConfig and TranslationRecognizer.
Option 1, manual synthesis: translate to several languages at once, then loop through the results and speak each with a matching neural voice. Flexible, works for many targets.
Option 2, event-based: set voice_name on the translation config and the service sends translated AUDIO back through the synthesizing event. Only one target language, but simpler and faster.
Both demos use keyless auth — token_credential=DefaultAzureCredential().
DEMO: speak an English sentence and hear it back in French and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and most exciting part: real-time voice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way to build a voice bot chains three services: speech to text, then an LLM, then text to speech. Three round trips, typically 1.5 to 3 seconds of delay, and you have to handle interruptions yourself.
Voice Live collapses that into one WebSocket session. Stream microphone audio in, get spoken audio out. It adds the hard parts for free: noise suppression, echo cancellation so the bot doesn't hear itself, semantic end-of-turn detection so natural pauses don't cut you off, and barge-in — you can interrupt it.
It's fully managed: you don't have to deploy an audio model. And it can connect straight to a Foundry agent by name, so your agent's tools and knowledge become voice-enabled.
Compared to the Azure OpenAI Realtime API: more model choices, Azure neural and custom voices, more languages, avatars and telephony via Azure Communication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Live Python SDK: pip install azure-ai-voicelive.
Connect, send one session.update with instructions, an Azure neural voice, noise reduction, echo cancellation and semantic voice-activity detection. Then stream mic audio in and play the audio deltas as they arrive.
Events worth naming: speech_started (the user began talking — stop playback, that's barge-in), input transcription completed (what the user said), response audio delta (a chunk of the bot's voice), and response done.
DEMO: python 10_voice_live.py — have a conversation, then interrupt it mid-sentence. Fallback if the mic misbehaves: --text "In one sentence, what is Voice Live?".
To voice-enable an existing Foundry agent, pass agent_name and project_name to connect() instead of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money, security, and how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Speech is priced per audio hour for recognition and per million characters for synthesis.
Anchor numbers: about one dollar per hour of real-time speech to text, fifteen dollars per million characters of neural TTS. A million characters is roughly 20 hours of spoken audio, or a long novel.
Fast transcription is much cheaper — $0.36 per hour — if you don't need real time.
F0, the free tier, is great for learning: 5 audio hours of STT and half a million characters of TTS per month. But you can only have one free Speech resource per subscription.
Commitment tiers give big discounts at volume — mention them for production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audio models are billed per token, with separate rates for audio and text, input and output. Audio tokens are much more expensive than text tokens.
Rules of thumb:
- gpt-4o-mini-transcribe is about $0.003 a minute — about 18 cents an hour. That's cheaper than real-time Speech STT at $1 an hour, but it's file-based, not streaming.
- gpt-4o-mini-tts is roughly 1.5 cents per minute of generated speech.
- Realtime models are the premium tier: the mini is about 3 times cheaper than gpt-realtime-2.1. Start with mini.
Deployment type matters: Global Standard is cheapest; Data Zone and Regional cost about 10% more but keep data in a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it concrete: a support team wants 100 hours of recorded calls transcribed each month.
- Real-time Speech STT: $100.
- Fast transcription: $36 — same service, just not streaming.
- gpt-4o-transcribe: about $36.
- gpt-4o-mini-transcribe: about $18.
So for recorded files, the mini model or Fast transcription wins on price. For live microphone or phone audio you need the real-time path, and that costs more.
Then layer on value: diarization for agent vs customer, and an audio or chat model to summarise each call — still only cents per call.
Ask the class: what would 1,000 hours cost? And at what point do commitment tiers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photograph. For each requirement, the natural first choice.
Work through two or three rows with the class as mini exam questions: "A company needs a multilingual call-centre bot that can be interrupted" → Voice Live. "A podcast producer wants to transcribe 500 recorded episodes cheaply" → gpt-4o-mini-transcribe or Fast transcription. "An e-learning team needs a branded voice reading dates correctly" → Azure Speech with custom voice and SSML.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demos deliberately mix two styles: API keys for the Speech SDK demos and Entra ID tokens for the OpenAI and translation demos. In production prefer keyless.
DefaultAzureCredential uses your az login locally and the app's managed identity in Azure — the same code works in both places.
Give identities the smallest role that works.
If you do use keys, keep them in Key Vault and rotate them — there are two keys precisely so you can rotate without downtime.
AI-103 explicitly lists "managed identity, private networking, keyless credentials and role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today's content to the official skills-measured lists.
AI-103 puts speech under "Implement text analysis solutions" with four bullets, all covered today: speech workflows for agents, speech as an agent modality including custom speech, multimodal reasoning from audio, and speech translation.
AI-102 is more SDK-focused: SSML, custom speech, intent and keyword recognition, and speech translation.
Homework: re-run each demo and change one parameter — voice, language, instructions — and note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 read them out and pause for questions.
If there's time, ask the class: "Which would you pick for a bank's phone assistant in Hindi and English, and why?" A good answer: Voice Live with an Azure neural voice, multilingual language identification, custom speech for product names, and a managed identity.
Remind everyone to regenerate any keys they used today and delete their resources if they're done, to avoid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561338"/>
            <a:ext cx="64008" cy="352044"/>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360170"/>
            <a:ext cx="64008" cy="75438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234440"/>
            <a:ext cx="64008" cy="100584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435608"/>
            <a:ext cx="64008" cy="603504"/>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586484"/>
            <a:ext cx="64008" cy="30175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377440"/>
            <a:ext cx="7863840" cy="82296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Azure AI Speech</a:t>
            </a:r>
            <a:endParaRPr lang="en-US" sz="4800" dirty="0"/>
          </a:p>
        </p:txBody>
      </p:sp>
      <p:sp>
        <p:nvSpPr>
          <p:cNvPr id="8" name="Text 6"/>
          <p:cNvSpPr/>
          <p:nvPr/>
        </p:nvSpPr>
        <p:spPr>
          <a:xfrm>
            <a:off x="640080" y="3200400"/>
            <a:ext cx="7863840" cy="36576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Speech to text  ·  Text to speech  ·  Translation  ·  Voice agents</a:t>
            </a:r>
            <a:endParaRPr lang="en-US" sz="1600" dirty="0"/>
          </a:p>
        </p:txBody>
      </p:sp>
      <p:sp>
        <p:nvSpPr>
          <p:cNvPr id="9" name="Text 7"/>
          <p:cNvSpPr/>
          <p:nvPr/>
        </p:nvSpPr>
        <p:spPr>
          <a:xfrm>
            <a:off x="640080" y="4206240"/>
            <a:ext cx="5486400" cy="274320"/>
          </a:xfrm>
          <a:prstGeom prst="rect">
            <a:avLst/>
          </a:prstGeom>
          <a:noFill/>
          <a:ln/>
        </p:spPr>
        <p:txBody>
          <a:bodyPr wrap="square" lIns="0" tIns="0" rIns="0" bIns="0" rtlCol="0" anchor="ctr"/>
          <a:lstStyle/>
          <a:p>
            <a:pPr indent="0" marL="0">
              <a:buNone/>
            </a:pPr>
            <a:r>
              <a:rPr lang="en-US" sz="1200" b="1" dirty="0">
                <a:solidFill>
                  <a:srgbClr val="F5A524"/>
                </a:solidFill>
                <a:latin typeface="Arial" pitchFamily="34" charset="0"/>
                <a:ea typeface="Arial" pitchFamily="34" charset="-122"/>
                <a:cs typeface="Arial" pitchFamily="34" charset="-120"/>
              </a:rPr>
              <a:t>Module 11  ·  Microsoft Foundry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AGENDA</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What we'll cover</a:t>
            </a:r>
            <a:endParaRPr lang="en-US" sz="2600" dirty="0"/>
          </a:p>
        </p:txBody>
      </p:sp>
      <p:sp>
        <p:nvSpPr>
          <p:cNvPr id="9" name="Text 7"/>
          <p:cNvSpPr/>
          <p:nvPr/>
        </p:nvSpPr>
        <p:spPr>
          <a:xfrm>
            <a:off x="457200" y="123444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01</a:t>
            </a:r>
            <a:endParaRPr lang="en-US" sz="2800" dirty="0"/>
          </a:p>
        </p:txBody>
      </p:sp>
      <p:sp>
        <p:nvSpPr>
          <p:cNvPr id="10" name="Text 8"/>
          <p:cNvSpPr/>
          <p:nvPr/>
        </p:nvSpPr>
        <p:spPr>
          <a:xfrm>
            <a:off x="1234440" y="123444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Two ways to do speech</a:t>
            </a:r>
            <a:endParaRPr lang="en-US" sz="1600" dirty="0"/>
          </a:p>
        </p:txBody>
      </p:sp>
      <p:sp>
        <p:nvSpPr>
          <p:cNvPr id="11" name="Text 9"/>
          <p:cNvSpPr/>
          <p:nvPr/>
        </p:nvSpPr>
        <p:spPr>
          <a:xfrm>
            <a:off x="1234440" y="156362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OpenAI audio models vs Azure Speech</a:t>
            </a:r>
            <a:endParaRPr lang="en-US" sz="1200" dirty="0"/>
          </a:p>
        </p:txBody>
      </p:sp>
      <p:sp>
        <p:nvSpPr>
          <p:cNvPr id="12" name="Text 10"/>
          <p:cNvSpPr/>
          <p:nvPr/>
        </p:nvSpPr>
        <p:spPr>
          <a:xfrm>
            <a:off x="4663440" y="123444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02</a:t>
            </a:r>
            <a:endParaRPr lang="en-US" sz="2800" dirty="0"/>
          </a:p>
        </p:txBody>
      </p:sp>
      <p:sp>
        <p:nvSpPr>
          <p:cNvPr id="13" name="Text 11"/>
          <p:cNvSpPr/>
          <p:nvPr/>
        </p:nvSpPr>
        <p:spPr>
          <a:xfrm>
            <a:off x="5440680" y="123444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OpenAI audio models</a:t>
            </a:r>
            <a:endParaRPr lang="en-US" sz="1600" dirty="0"/>
          </a:p>
        </p:txBody>
      </p:sp>
      <p:sp>
        <p:nvSpPr>
          <p:cNvPr id="14" name="Text 12"/>
          <p:cNvSpPr/>
          <p:nvPr/>
        </p:nvSpPr>
        <p:spPr>
          <a:xfrm>
            <a:off x="5440680" y="156362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TTS, transcription, diarization, audio reasoning</a:t>
            </a:r>
            <a:endParaRPr lang="en-US" sz="1200" dirty="0"/>
          </a:p>
        </p:txBody>
      </p:sp>
      <p:sp>
        <p:nvSpPr>
          <p:cNvPr id="15" name="Text 13"/>
          <p:cNvSpPr/>
          <p:nvPr/>
        </p:nvSpPr>
        <p:spPr>
          <a:xfrm>
            <a:off x="457200" y="233172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03</a:t>
            </a:r>
            <a:endParaRPr lang="en-US" sz="2800" dirty="0"/>
          </a:p>
        </p:txBody>
      </p:sp>
      <p:sp>
        <p:nvSpPr>
          <p:cNvPr id="16" name="Text 14"/>
          <p:cNvSpPr/>
          <p:nvPr/>
        </p:nvSpPr>
        <p:spPr>
          <a:xfrm>
            <a:off x="1234440" y="233172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Azure Speech SDK</a:t>
            </a:r>
            <a:endParaRPr lang="en-US" sz="1600" dirty="0"/>
          </a:p>
        </p:txBody>
      </p:sp>
      <p:sp>
        <p:nvSpPr>
          <p:cNvPr id="17" name="Text 15"/>
          <p:cNvSpPr/>
          <p:nvPr/>
        </p:nvSpPr>
        <p:spPr>
          <a:xfrm>
            <a:off x="1234440" y="266090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STT, TTS, SSML, language ID</a:t>
            </a:r>
            <a:endParaRPr lang="en-US" sz="1200" dirty="0"/>
          </a:p>
        </p:txBody>
      </p:sp>
      <p:sp>
        <p:nvSpPr>
          <p:cNvPr id="18" name="Text 16"/>
          <p:cNvSpPr/>
          <p:nvPr/>
        </p:nvSpPr>
        <p:spPr>
          <a:xfrm>
            <a:off x="4663440" y="233172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04</a:t>
            </a:r>
            <a:endParaRPr lang="en-US" sz="2800" dirty="0"/>
          </a:p>
        </p:txBody>
      </p:sp>
      <p:sp>
        <p:nvSpPr>
          <p:cNvPr id="19" name="Text 17"/>
          <p:cNvSpPr/>
          <p:nvPr/>
        </p:nvSpPr>
        <p:spPr>
          <a:xfrm>
            <a:off x="5440680" y="233172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Translation</a:t>
            </a:r>
            <a:endParaRPr lang="en-US" sz="1600" dirty="0"/>
          </a:p>
        </p:txBody>
      </p:sp>
      <p:sp>
        <p:nvSpPr>
          <p:cNvPr id="20" name="Text 18"/>
          <p:cNvSpPr/>
          <p:nvPr/>
        </p:nvSpPr>
        <p:spPr>
          <a:xfrm>
            <a:off x="5440680" y="266090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Text, transliteration, speech-to-speech</a:t>
            </a:r>
            <a:endParaRPr lang="en-US" sz="1200" dirty="0"/>
          </a:p>
        </p:txBody>
      </p:sp>
      <p:sp>
        <p:nvSpPr>
          <p:cNvPr id="21" name="Text 19"/>
          <p:cNvSpPr/>
          <p:nvPr/>
        </p:nvSpPr>
        <p:spPr>
          <a:xfrm>
            <a:off x="457200" y="342900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05</a:t>
            </a:r>
            <a:endParaRPr lang="en-US" sz="2800" dirty="0"/>
          </a:p>
        </p:txBody>
      </p:sp>
      <p:sp>
        <p:nvSpPr>
          <p:cNvPr id="22" name="Text 20"/>
          <p:cNvSpPr/>
          <p:nvPr/>
        </p:nvSpPr>
        <p:spPr>
          <a:xfrm>
            <a:off x="1234440" y="342900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Voice Live</a:t>
            </a:r>
            <a:endParaRPr lang="en-US" sz="1600" dirty="0"/>
          </a:p>
        </p:txBody>
      </p:sp>
      <p:sp>
        <p:nvSpPr>
          <p:cNvPr id="23" name="Text 21"/>
          <p:cNvSpPr/>
          <p:nvPr/>
        </p:nvSpPr>
        <p:spPr>
          <a:xfrm>
            <a:off x="1234440" y="375818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Real-time voice agents</a:t>
            </a:r>
            <a:endParaRPr lang="en-US" sz="1200" dirty="0"/>
          </a:p>
        </p:txBody>
      </p:sp>
      <p:sp>
        <p:nvSpPr>
          <p:cNvPr id="24" name="Text 22"/>
          <p:cNvSpPr/>
          <p:nvPr/>
        </p:nvSpPr>
        <p:spPr>
          <a:xfrm>
            <a:off x="4663440" y="3429000"/>
            <a:ext cx="731520" cy="548640"/>
          </a:xfrm>
          <a:prstGeom prst="rect">
            <a:avLst/>
          </a:prstGeom>
          <a:noFill/>
          <a:ln/>
        </p:spPr>
        <p:txBody>
          <a:bodyPr wrap="square" lIns="0" tIns="0" rIns="0" bIns="0" rtlCol="0" anchor="ctr"/>
          <a:lstStyle/>
          <a:p>
            <a:pPr indent="0" marL="0">
              <a:buNone/>
            </a:pPr>
            <a:r>
              <a:rPr lang="en-US" sz="2800" b="1" dirty="0">
                <a:solidFill>
                  <a:srgbClr val="F5A524"/>
                </a:solidFill>
                <a:latin typeface="Arial" pitchFamily="34" charset="0"/>
                <a:ea typeface="Arial" pitchFamily="34" charset="-122"/>
                <a:cs typeface="Arial" pitchFamily="34" charset="-120"/>
              </a:rPr>
              <a:t>06</a:t>
            </a:r>
            <a:endParaRPr lang="en-US" sz="2800" dirty="0"/>
          </a:p>
        </p:txBody>
      </p:sp>
      <p:sp>
        <p:nvSpPr>
          <p:cNvPr id="25" name="Text 23"/>
          <p:cNvSpPr/>
          <p:nvPr/>
        </p:nvSpPr>
        <p:spPr>
          <a:xfrm>
            <a:off x="5440680" y="3429000"/>
            <a:ext cx="3200400" cy="320040"/>
          </a:xfrm>
          <a:prstGeom prst="rect">
            <a:avLst/>
          </a:prstGeom>
          <a:noFill/>
          <a:ln/>
        </p:spPr>
        <p:txBody>
          <a:bodyPr wrap="square" lIns="0" tIns="0" rIns="0" bIns="0" rtlCol="0" anchor="ctr"/>
          <a:lstStyle/>
          <a:p>
            <a:pPr indent="0" marL="0">
              <a:buNone/>
            </a:pPr>
            <a:r>
              <a:rPr lang="en-US" sz="1600" b="1" dirty="0">
                <a:solidFill>
                  <a:srgbClr val="2D1B69"/>
                </a:solidFill>
                <a:latin typeface="Arial" pitchFamily="34" charset="0"/>
                <a:ea typeface="Arial" pitchFamily="34" charset="-122"/>
                <a:cs typeface="Arial" pitchFamily="34" charset="-120"/>
              </a:rPr>
              <a:t>Cost, security &amp; choosing</a:t>
            </a:r>
            <a:endParaRPr lang="en-US" sz="1600" dirty="0"/>
          </a:p>
        </p:txBody>
      </p:sp>
      <p:sp>
        <p:nvSpPr>
          <p:cNvPr id="26" name="Text 24"/>
          <p:cNvSpPr/>
          <p:nvPr/>
        </p:nvSpPr>
        <p:spPr>
          <a:xfrm>
            <a:off x="5440680" y="3758184"/>
            <a:ext cx="320040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What it costs and how to decide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THE BIG PICTURE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Two ways to add speech to your app</a:t>
            </a:r>
            <a:endParaRPr lang="en-US" sz="2600" dirty="0"/>
          </a:p>
        </p:txBody>
      </p:sp>
      <p:sp>
        <p:nvSpPr>
          <p:cNvPr id="9" name="Shape 7"/>
          <p:cNvSpPr/>
          <p:nvPr/>
        </p:nvSpPr>
        <p:spPr>
          <a:xfrm>
            <a:off x="457200" y="1188720"/>
            <a:ext cx="3977640" cy="3108960"/>
          </a:xfrm>
          <a:prstGeom prst="roundRect">
            <a:avLst>
              <a:gd name="adj" fmla="val 2941"/>
            </a:avLst>
          </a:prstGeom>
          <a:solidFill>
            <a:srgbClr val="F3F0FF"/>
          </a:solidFill>
          <a:ln w="12700">
            <a:solidFill>
              <a:srgbClr val="F3F0FF"/>
            </a:solidFill>
            <a:prstDash val="solid"/>
          </a:ln>
        </p:spPr>
      </p:sp>
      <p:sp>
        <p:nvSpPr>
          <p:cNvPr id="10" name="Text 8"/>
          <p:cNvSpPr/>
          <p:nvPr/>
        </p:nvSpPr>
        <p:spPr>
          <a:xfrm>
            <a:off x="640080" y="132588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OpenAI audio models in Foundry</a:t>
            </a:r>
            <a:endParaRPr lang="en-US" sz="1400" dirty="0"/>
          </a:p>
        </p:txBody>
      </p:sp>
      <p:sp>
        <p:nvSpPr>
          <p:cNvPr id="11" name="Text 9"/>
          <p:cNvSpPr/>
          <p:nvPr/>
        </p:nvSpPr>
        <p:spPr>
          <a:xfrm>
            <a:off x="640080" y="1664208"/>
            <a:ext cx="361188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Deploy a model, call an API.</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gpt-4o-mini-tts — prompt-steerable voice</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gpt-4o(-mini)-transcribe — speech to text</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gpt-4o-transcribe-diarize — who said what</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gpt-audio-mini — reason over audio</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gpt-realtime-mini — speech-in, speech-out</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Best for: GenAI apps, quick prototypes, understanding audio</a:t>
            </a:r>
            <a:endParaRPr lang="en-US" sz="1200" dirty="0"/>
          </a:p>
        </p:txBody>
      </p:sp>
      <p:sp>
        <p:nvSpPr>
          <p:cNvPr id="12" name="Shape 10"/>
          <p:cNvSpPr/>
          <p:nvPr/>
        </p:nvSpPr>
        <p:spPr>
          <a:xfrm>
            <a:off x="4709160" y="1188720"/>
            <a:ext cx="3977640" cy="3108960"/>
          </a:xfrm>
          <a:prstGeom prst="roundRect">
            <a:avLst>
              <a:gd name="adj" fmla="val 2941"/>
            </a:avLst>
          </a:prstGeom>
          <a:solidFill>
            <a:srgbClr val="FFF6E6"/>
          </a:solidFill>
          <a:ln w="12700">
            <a:solidFill>
              <a:srgbClr val="FFF6E6"/>
            </a:solidFill>
            <a:prstDash val="solid"/>
          </a:ln>
        </p:spPr>
      </p:sp>
      <p:sp>
        <p:nvSpPr>
          <p:cNvPr id="13" name="Text 11"/>
          <p:cNvSpPr/>
          <p:nvPr/>
        </p:nvSpPr>
        <p:spPr>
          <a:xfrm>
            <a:off x="4892040" y="132588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Azure Speech in Foundry Tools</a:t>
            </a:r>
            <a:endParaRPr lang="en-US" sz="1400" dirty="0"/>
          </a:p>
        </p:txBody>
      </p:sp>
      <p:sp>
        <p:nvSpPr>
          <p:cNvPr id="14" name="Text 12"/>
          <p:cNvSpPr/>
          <p:nvPr/>
        </p:nvSpPr>
        <p:spPr>
          <a:xfrm>
            <a:off x="4892040" y="1664208"/>
            <a:ext cx="361188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Built-in service, no deployment.</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600+ neural voices, 150+ locales</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SSML for fine control</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Real-time &amp; continuous recognition</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Speech translation, language ID</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Custom speech &amp; custom voice</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Voice Live for voice agents</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Best for: production voice, telephony, many languages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MODELS · SEPT 2026</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The current model line-up</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3200400"/>
                <a:gridCol w="34747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Task</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OpenAI models (deploy)</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Azure Speech (built-in)</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Speech → text</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gpt-4o-mini-transcribe, gpt-4o-transcribe, whisper</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Real-time STT, Fast &amp; Batch transcription, MAI-Transcribe-2 (preview)</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Who spoke when</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gpt-4o-transcribe-diarize</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Diarization in real-time / fast transcription</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Text → speech</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gpt-4o-mini-tts, tts, tts-hd</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Neural &amp; HD voices, MAI-Voice-2 / -Flash (preview)</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Reason over audio</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gpt-audio-mini, gpt-audio</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LLM Speech (preview)</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Real-time voice</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gpt-realtime-mini, gpt-realtime-2.1</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Voice Live API</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30"/>
                          </a:solidFill>
                          <a:latin typeface="Arial" pitchFamily="34" charset="0"/>
                          <a:ea typeface="Arial" pitchFamily="34" charset="-122"/>
                          <a:cs typeface="Arial" pitchFamily="34" charset="-120"/>
                        </a:rPr>
                        <a:t>Translation</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whisper (to English only)</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100" dirty="0">
                          <a:solidFill>
                            <a:srgbClr val="1F2330"/>
                          </a:solidFill>
                          <a:latin typeface="Arial" pitchFamily="34" charset="0"/>
                          <a:ea typeface="Arial" pitchFamily="34" charset="-122"/>
                          <a:cs typeface="Arial" pitchFamily="34" charset="-120"/>
                        </a:rPr>
                        <a:t>Speech translation, 100+ languages</a:t>
                      </a:r>
                      <a:endParaRPr lang="en-US" sz="11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bl>
          </a:graphicData>
        </a:graphic>
      </p:graphicFrame>
      <p:sp>
        <p:nvSpPr>
          <p:cNvPr id="10" name="Text 7"/>
          <p:cNvSpPr/>
          <p:nvPr/>
        </p:nvSpPr>
        <p:spPr>
          <a:xfrm>
            <a:off x="457200" y="4846320"/>
            <a:ext cx="82296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Source: Microsoft Learn — Foundry Models sold by Azure; Azure Speech docs. Model list changes often — check the Foundry catalogue.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HANDS-ON</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Before the demos: setup</a:t>
            </a:r>
            <a:endParaRPr lang="en-US" sz="2600" dirty="0"/>
          </a:p>
        </p:txBody>
      </p:sp>
      <p:sp>
        <p:nvSpPr>
          <p:cNvPr id="9" name="Shape 7"/>
          <p:cNvSpPr/>
          <p:nvPr/>
        </p:nvSpPr>
        <p:spPr>
          <a:xfrm>
            <a:off x="457200" y="1188720"/>
            <a:ext cx="4754880" cy="1828800"/>
          </a:xfrm>
          <a:prstGeom prst="roundRect">
            <a:avLst>
              <a:gd name="adj" fmla="val 4000"/>
            </a:avLst>
          </a:prstGeom>
          <a:solidFill>
            <a:srgbClr val="F5F6F8"/>
          </a:solidFill>
          <a:ln w="12700">
            <a:solidFill>
              <a:srgbClr val="E5E7EB"/>
            </a:solidFill>
            <a:prstDash val="solid"/>
          </a:ln>
        </p:spPr>
      </p:sp>
      <p:sp>
        <p:nvSpPr>
          <p:cNvPr id="10" name="Text 8"/>
          <p:cNvSpPr/>
          <p:nvPr/>
        </p:nvSpPr>
        <p:spPr>
          <a:xfrm>
            <a:off x="594360" y="1280160"/>
            <a:ext cx="4480560" cy="1645920"/>
          </a:xfrm>
          <a:prstGeom prst="rect">
            <a:avLst/>
          </a:prstGeom>
          <a:noFill/>
          <a:ln/>
        </p:spPr>
        <p:txBody>
          <a:bodyPr wrap="square" lIns="0" tIns="0" rIns="0" bIns="0" rtlCol="0" anchor="t"/>
          <a:lstStyle/>
          <a:p>
            <a:pPr indent="0" marL="0">
              <a:buNone/>
            </a:pPr>
            <a:r>
              <a:rPr lang="en-US" sz="1100" dirty="0">
                <a:solidFill>
                  <a:srgbClr val="1F2330"/>
                </a:solidFill>
                <a:latin typeface="Courier New" pitchFamily="34" charset="0"/>
                <a:ea typeface="Courier New" pitchFamily="34" charset="-122"/>
                <a:cs typeface="Courier New" pitchFamily="34" charset="-120"/>
              </a:rPr>
              <a:t>python -m venv .venv</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.venv\Scripts\Activate.ps1</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pip install -r requirements.txt</a:t>
            </a:r>
            <a:endParaRPr lang="en-US" sz="1100" dirty="0"/>
          </a:p>
          <a:p>
            <a:pPr indent="0" marL="0">
              <a:buNone/>
            </a:pP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copy .env.example .env   # then edit</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az login                # keyless demos</a:t>
            </a:r>
            <a:endParaRPr lang="en-US" sz="1100" dirty="0"/>
          </a:p>
        </p:txBody>
      </p:sp>
      <p:sp>
        <p:nvSpPr>
          <p:cNvPr id="11" name="Shape 9"/>
          <p:cNvSpPr/>
          <p:nvPr/>
        </p:nvSpPr>
        <p:spPr>
          <a:xfrm>
            <a:off x="5486400" y="1188720"/>
            <a:ext cx="3200400" cy="3108960"/>
          </a:xfrm>
          <a:prstGeom prst="roundRect">
            <a:avLst>
              <a:gd name="adj" fmla="val 2941"/>
            </a:avLst>
          </a:prstGeom>
          <a:solidFill>
            <a:srgbClr val="F3F0FF"/>
          </a:solidFill>
          <a:ln w="12700">
            <a:solidFill>
              <a:srgbClr val="F3F0FF"/>
            </a:solidFill>
            <a:prstDash val="solid"/>
          </a:ln>
        </p:spPr>
      </p:sp>
      <p:sp>
        <p:nvSpPr>
          <p:cNvPr id="12" name="Text 10"/>
          <p:cNvSpPr/>
          <p:nvPr/>
        </p:nvSpPr>
        <p:spPr>
          <a:xfrm>
            <a:off x="5669280" y="1325880"/>
            <a:ext cx="283464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Checklist</a:t>
            </a:r>
            <a:endParaRPr lang="en-US" sz="1400" dirty="0"/>
          </a:p>
        </p:txBody>
      </p:sp>
      <p:sp>
        <p:nvSpPr>
          <p:cNvPr id="13" name="Text 11"/>
          <p:cNvSpPr/>
          <p:nvPr/>
        </p:nvSpPr>
        <p:spPr>
          <a:xfrm>
            <a:off x="5669280" y="1664208"/>
            <a:ext cx="283464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1 Foundry resource</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(one resource = all demos)</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2 Deploy: gpt-4o-mini-tts, gpt-4o-mini-transcribe, gpt-4o-transcribe-diarize, gpt-audio-mini, gpt-realtime-mini</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3 Role: Cognitive Services User</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4 Mic + headphones</a:t>
            </a:r>
            <a:endParaRPr lang="en-US" sz="1200" dirty="0"/>
          </a:p>
        </p:txBody>
      </p:sp>
      <p:sp>
        <p:nvSpPr>
          <p:cNvPr id="14" name="Text 12"/>
          <p:cNvSpPr/>
          <p:nvPr/>
        </p:nvSpPr>
        <p:spPr>
          <a:xfrm>
            <a:off x="457200" y="3246120"/>
            <a:ext cx="4754880" cy="7315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Never paste keys into code or slides — use .env locally and Key Vault / managed identity in Azure.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821942"/>
            <a:ext cx="64008" cy="288036"/>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657350"/>
            <a:ext cx="64008" cy="61722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554480"/>
            <a:ext cx="64008" cy="82296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719072"/>
            <a:ext cx="64008" cy="493776"/>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842516"/>
            <a:ext cx="64008" cy="246888"/>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514600"/>
            <a:ext cx="2743200" cy="36576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02</a:t>
            </a:r>
            <a:endParaRPr lang="en-US" sz="1400" dirty="0"/>
          </a:p>
        </p:txBody>
      </p:sp>
      <p:sp>
        <p:nvSpPr>
          <p:cNvPr id="8" name="Text 6"/>
          <p:cNvSpPr/>
          <p:nvPr/>
        </p:nvSpPr>
        <p:spPr>
          <a:xfrm>
            <a:off x="640080" y="2834640"/>
            <a:ext cx="786384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OpenAI audio models</a:t>
            </a:r>
            <a:endParaRPr lang="en-US" sz="3800" dirty="0"/>
          </a:p>
        </p:txBody>
      </p:sp>
      <p:sp>
        <p:nvSpPr>
          <p:cNvPr id="9" name="Text 7"/>
          <p:cNvSpPr/>
          <p:nvPr/>
        </p:nvSpPr>
        <p:spPr>
          <a:xfrm>
            <a:off x="640080" y="3566160"/>
            <a:ext cx="7863840" cy="45720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Deploy once, call like any other model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SPEECH GENERATION</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Text to speech with gpt-4o-mini-tts</a:t>
            </a:r>
            <a:endParaRPr lang="en-US" sz="2600" dirty="0"/>
          </a:p>
        </p:txBody>
      </p:sp>
      <p:sp>
        <p:nvSpPr>
          <p:cNvPr id="9" name="Shape 7"/>
          <p:cNvSpPr/>
          <p:nvPr/>
        </p:nvSpPr>
        <p:spPr>
          <a:xfrm>
            <a:off x="457200" y="1188720"/>
            <a:ext cx="4937760" cy="3108960"/>
          </a:xfrm>
          <a:prstGeom prst="roundRect">
            <a:avLst>
              <a:gd name="adj" fmla="val 2353"/>
            </a:avLst>
          </a:prstGeom>
          <a:solidFill>
            <a:srgbClr val="F5F6F8"/>
          </a:solidFill>
          <a:ln w="12700">
            <a:solidFill>
              <a:srgbClr val="E5E7EB"/>
            </a:solidFill>
            <a:prstDash val="solid"/>
          </a:ln>
        </p:spPr>
      </p:sp>
      <p:sp>
        <p:nvSpPr>
          <p:cNvPr id="10" name="Text 8"/>
          <p:cNvSpPr/>
          <p:nvPr/>
        </p:nvSpPr>
        <p:spPr>
          <a:xfrm>
            <a:off x="594360" y="1280160"/>
            <a:ext cx="4663440" cy="2926080"/>
          </a:xfrm>
          <a:prstGeom prst="rect">
            <a:avLst/>
          </a:prstGeom>
          <a:noFill/>
          <a:ln/>
        </p:spPr>
        <p:txBody>
          <a:bodyPr wrap="square" lIns="0" tIns="0" rIns="0" bIns="0" rtlCol="0" anchor="t"/>
          <a:lstStyle/>
          <a:p>
            <a:pPr indent="0" marL="0">
              <a:buNone/>
            </a:pPr>
            <a:r>
              <a:rPr lang="en-US" sz="1100" dirty="0">
                <a:solidFill>
                  <a:srgbClr val="1F2330"/>
                </a:solidFill>
                <a:latin typeface="Courier New" pitchFamily="34" charset="0"/>
                <a:ea typeface="Courier New" pitchFamily="34" charset="-122"/>
                <a:cs typeface="Courier New" pitchFamily="34" charset="-120"/>
              </a:rPr>
              <a:t>client = OpenAI(</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base_url=f"{endpoint}/openai/v1/",</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api_key=token_provider())          # Entra ID token</a:t>
            </a:r>
            <a:endParaRPr lang="en-US" sz="1100" dirty="0"/>
          </a:p>
          <a:p>
            <a:pPr indent="0" marL="0">
              <a:buNone/>
            </a:pP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response = client.audio.speech.create(</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model="gpt-4o-mini-tts",</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voice="ballad",</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input="My name is Sandeep Soni ...",</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instructions="Speak in a funny tone.")</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response.write_to_file("speech.mp3")</a:t>
            </a:r>
            <a:endParaRPr lang="en-US" sz="1100" dirty="0"/>
          </a:p>
        </p:txBody>
      </p:sp>
      <p:sp>
        <p:nvSpPr>
          <p:cNvPr id="11" name="Text 9"/>
          <p:cNvSpPr/>
          <p:nvPr/>
        </p:nvSpPr>
        <p:spPr>
          <a:xfrm>
            <a:off x="5669280" y="123444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New OpenAI v1 endpoint: /openai/v1/ — standard OpenAI client</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instructions steers tone, emotion, pace</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Voices: alloy, ash, ballad, coral, echo, nova, sage, shimmer…</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Output: mp3, wav, opus, pcm</a:t>
            </a:r>
            <a:endParaRPr lang="en-US" sz="1400" dirty="0"/>
          </a:p>
        </p:txBody>
      </p:sp>
      <p:sp>
        <p:nvSpPr>
          <p:cNvPr id="12" name="Shape 10"/>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3" name="Text 11"/>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01_openai_tts.py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TRANSCRIPTION</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Speech to text: two ways to call it</a:t>
            </a:r>
            <a:endParaRPr lang="en-US" sz="2600" dirty="0"/>
          </a:p>
        </p:txBody>
      </p:sp>
      <p:sp>
        <p:nvSpPr>
          <p:cNvPr id="9" name="Shape 7"/>
          <p:cNvSpPr/>
          <p:nvPr/>
        </p:nvSpPr>
        <p:spPr>
          <a:xfrm>
            <a:off x="457200" y="1188720"/>
            <a:ext cx="8229600" cy="1234440"/>
          </a:xfrm>
          <a:prstGeom prst="roundRect">
            <a:avLst>
              <a:gd name="adj" fmla="val 5926"/>
            </a:avLst>
          </a:prstGeom>
          <a:solidFill>
            <a:srgbClr val="F5F6F8"/>
          </a:solidFill>
          <a:ln w="12700">
            <a:solidFill>
              <a:srgbClr val="E5E7EB"/>
            </a:solidFill>
            <a:prstDash val="solid"/>
          </a:ln>
        </p:spPr>
      </p:sp>
      <p:sp>
        <p:nvSpPr>
          <p:cNvPr id="10" name="Text 8"/>
          <p:cNvSpPr/>
          <p:nvPr/>
        </p:nvSpPr>
        <p:spPr>
          <a:xfrm>
            <a:off x="594360" y="1280160"/>
            <a:ext cx="7955280" cy="1051560"/>
          </a:xfrm>
          <a:prstGeom prst="rect">
            <a:avLst/>
          </a:prstGeom>
          <a:noFill/>
          <a:ln/>
        </p:spPr>
        <p:txBody>
          <a:bodyPr wrap="square" lIns="0" tIns="0" rIns="0" bIns="0" rtlCol="0" anchor="t"/>
          <a:lstStyle/>
          <a:p>
            <a:pPr indent="0" marL="0">
              <a:buNone/>
            </a:pPr>
            <a:r>
              <a:rPr lang="en-US" sz="1050" dirty="0">
                <a:solidFill>
                  <a:srgbClr val="1F2330"/>
                </a:solidFill>
                <a:latin typeface="Courier New" pitchFamily="34" charset="0"/>
                <a:ea typeface="Courier New" pitchFamily="34" charset="-122"/>
                <a:cs typeface="Courier New" pitchFamily="34" charset="-120"/>
              </a:rPr>
              <a:t># A. Plain REST</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url = f"{endpoint}/openai/deployments/{dep}/audio/transcriptions"</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requests.post(url, headers={"Authorization": f"Bearer {token}"},</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files={"file": f}, data={"response_format": "text"})</a:t>
            </a:r>
            <a:endParaRPr lang="en-US" sz="1050" dirty="0"/>
          </a:p>
        </p:txBody>
      </p:sp>
      <p:sp>
        <p:nvSpPr>
          <p:cNvPr id="11" name="Shape 9"/>
          <p:cNvSpPr/>
          <p:nvPr/>
        </p:nvSpPr>
        <p:spPr>
          <a:xfrm>
            <a:off x="457200" y="2560320"/>
            <a:ext cx="8229600" cy="1234440"/>
          </a:xfrm>
          <a:prstGeom prst="roundRect">
            <a:avLst>
              <a:gd name="adj" fmla="val 5926"/>
            </a:avLst>
          </a:prstGeom>
          <a:solidFill>
            <a:srgbClr val="F5F6F8"/>
          </a:solidFill>
          <a:ln w="12700">
            <a:solidFill>
              <a:srgbClr val="E5E7EB"/>
            </a:solidFill>
            <a:prstDash val="solid"/>
          </a:ln>
        </p:spPr>
      </p:sp>
      <p:sp>
        <p:nvSpPr>
          <p:cNvPr id="12" name="Text 10"/>
          <p:cNvSpPr/>
          <p:nvPr/>
        </p:nvSpPr>
        <p:spPr>
          <a:xfrm>
            <a:off x="594360" y="2651760"/>
            <a:ext cx="7955280" cy="1051560"/>
          </a:xfrm>
          <a:prstGeom prst="rect">
            <a:avLst/>
          </a:prstGeom>
          <a:noFill/>
          <a:ln/>
        </p:spPr>
        <p:txBody>
          <a:bodyPr wrap="square" lIns="0" tIns="0" rIns="0" bIns="0" rtlCol="0" anchor="t"/>
          <a:lstStyle/>
          <a:p>
            <a:pPr indent="0" marL="0">
              <a:buNone/>
            </a:pPr>
            <a:r>
              <a:rPr lang="en-US" sz="1050" dirty="0">
                <a:solidFill>
                  <a:srgbClr val="1F2330"/>
                </a:solidFill>
                <a:latin typeface="Courier New" pitchFamily="34" charset="0"/>
                <a:ea typeface="Courier New" pitchFamily="34" charset="-122"/>
                <a:cs typeface="Courier New" pitchFamily="34" charset="-120"/>
              </a:rPr>
              <a:t># B. AzureOpenAI SDK</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client = AzureOpenAI(azure_endpoint=endpoint, azure_ad_token_provider=tp,</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api_version="2025-03-01-preview")</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client.audio.transcriptions.create(model="gpt-4o-mini-transcribe", file=f)</a:t>
            </a:r>
            <a:endParaRPr lang="en-US" sz="1050" dirty="0"/>
          </a:p>
        </p:txBody>
      </p:sp>
      <p:sp>
        <p:nvSpPr>
          <p:cNvPr id="13" name="Text 11"/>
          <p:cNvSpPr/>
          <p:nvPr/>
        </p:nvSpPr>
        <p:spPr>
          <a:xfrm>
            <a:off x="457200" y="3977640"/>
            <a:ext cx="822960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Same result either way. File-based, up to 25 MB. Use a prompt to bias vocabulary.</a:t>
            </a:r>
            <a:endParaRPr lang="en-US" sz="1300" dirty="0"/>
          </a:p>
        </p:txBody>
      </p:sp>
      <p:sp>
        <p:nvSpPr>
          <p:cNvPr id="14" name="Shape 12"/>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5" name="Text 13"/>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02_transcribe_rest.py  ·  03_...azure_openai.py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GPT-4O-TRANSCRIBE-DIARIZE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Who said what? Diarization</a:t>
            </a:r>
            <a:endParaRPr lang="en-US" sz="2600" dirty="0"/>
          </a:p>
        </p:txBody>
      </p:sp>
      <p:sp>
        <p:nvSpPr>
          <p:cNvPr id="9" name="Shape 7"/>
          <p:cNvSpPr/>
          <p:nvPr/>
        </p:nvSpPr>
        <p:spPr>
          <a:xfrm>
            <a:off x="457200" y="1188720"/>
            <a:ext cx="4480560" cy="2651760"/>
          </a:xfrm>
          <a:prstGeom prst="roundRect">
            <a:avLst>
              <a:gd name="adj" fmla="val 2759"/>
            </a:avLst>
          </a:prstGeom>
          <a:solidFill>
            <a:srgbClr val="F5F6F8"/>
          </a:solidFill>
          <a:ln w="12700">
            <a:solidFill>
              <a:srgbClr val="E5E7EB"/>
            </a:solidFill>
            <a:prstDash val="solid"/>
          </a:ln>
        </p:spPr>
      </p:sp>
      <p:sp>
        <p:nvSpPr>
          <p:cNvPr id="10" name="Text 8"/>
          <p:cNvSpPr/>
          <p:nvPr/>
        </p:nvSpPr>
        <p:spPr>
          <a:xfrm>
            <a:off x="594360" y="1280160"/>
            <a:ext cx="4206240" cy="2468880"/>
          </a:xfrm>
          <a:prstGeom prst="rect">
            <a:avLst/>
          </a:prstGeom>
          <a:noFill/>
          <a:ln/>
        </p:spPr>
        <p:txBody>
          <a:bodyPr wrap="square" lIns="0" tIns="0" rIns="0" bIns="0" rtlCol="0" anchor="t"/>
          <a:lstStyle/>
          <a:p>
            <a:pPr indent="0" marL="0">
              <a:buNone/>
            </a:pPr>
            <a:r>
              <a:rPr lang="en-US" sz="1100" dirty="0">
                <a:solidFill>
                  <a:srgbClr val="1F2330"/>
                </a:solidFill>
                <a:latin typeface="Courier New" pitchFamily="34" charset="0"/>
                <a:ea typeface="Courier New" pitchFamily="34" charset="-122"/>
                <a:cs typeface="Courier New" pitchFamily="34" charset="-120"/>
              </a:rPr>
              <a:t>result = client.audio.transcriptions.create(</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model="gpt-4o-transcribe-diarize",</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file=f,</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response_format="diarized_json",</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chunking_strategy="auto")</a:t>
            </a:r>
            <a:endParaRPr lang="en-US" sz="1100" dirty="0"/>
          </a:p>
          <a:p>
            <a:pPr indent="0" marL="0">
              <a:buNone/>
            </a:pP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for seg in result.segments:</a:t>
            </a:r>
            <a:endParaRPr lang="en-US" sz="1100" dirty="0"/>
          </a:p>
          <a:p>
            <a:pPr indent="0" marL="0">
              <a:buNone/>
            </a:pPr>
            <a:r>
              <a:rPr lang="en-US" sz="1100" dirty="0">
                <a:solidFill>
                  <a:srgbClr val="1F2330"/>
                </a:solidFill>
                <a:latin typeface="Courier New" pitchFamily="34" charset="0"/>
                <a:ea typeface="Courier New" pitchFamily="34" charset="-122"/>
                <a:cs typeface="Courier New" pitchFamily="34" charset="-120"/>
              </a:rPr>
              <a:t>    print(seg.start, seg.speaker, seg.text)</a:t>
            </a:r>
            <a:endParaRPr lang="en-US" sz="1100" dirty="0"/>
          </a:p>
        </p:txBody>
      </p:sp>
      <p:sp>
        <p:nvSpPr>
          <p:cNvPr id="11" name="Shape 9"/>
          <p:cNvSpPr/>
          <p:nvPr/>
        </p:nvSpPr>
        <p:spPr>
          <a:xfrm>
            <a:off x="5120640" y="1188720"/>
            <a:ext cx="3566160" cy="2651760"/>
          </a:xfrm>
          <a:prstGeom prst="roundRect">
            <a:avLst>
              <a:gd name="adj" fmla="val 2759"/>
            </a:avLst>
          </a:prstGeom>
          <a:solidFill>
            <a:srgbClr val="F5F6F8"/>
          </a:solidFill>
          <a:ln w="12700">
            <a:solidFill>
              <a:srgbClr val="E5E7EB"/>
            </a:solidFill>
            <a:prstDash val="solid"/>
          </a:ln>
        </p:spPr>
      </p:sp>
      <p:sp>
        <p:nvSpPr>
          <p:cNvPr id="12" name="Text 10"/>
          <p:cNvSpPr/>
          <p:nvPr/>
        </p:nvSpPr>
        <p:spPr>
          <a:xfrm>
            <a:off x="5257800" y="1280160"/>
            <a:ext cx="3291840" cy="2468880"/>
          </a:xfrm>
          <a:prstGeom prst="rect">
            <a:avLst/>
          </a:prstGeom>
          <a:noFill/>
          <a:ln/>
        </p:spPr>
        <p:txBody>
          <a:bodyPr wrap="square" lIns="0" tIns="0" rIns="0" bIns="0" rtlCol="0" anchor="t"/>
          <a:lstStyle/>
          <a:p>
            <a:pPr indent="0" marL="0">
              <a:buNone/>
            </a:pPr>
            <a:r>
              <a:rPr lang="en-US" sz="1000" dirty="0">
                <a:solidFill>
                  <a:srgbClr val="1F2330"/>
                </a:solidFill>
                <a:latin typeface="Courier New" pitchFamily="34" charset="0"/>
                <a:ea typeface="Courier New" pitchFamily="34" charset="-122"/>
                <a:cs typeface="Courier New" pitchFamily="34" charset="-120"/>
              </a:rPr>
              <a:t>[ 0.9s] A: Did you finish the lab?</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[ 3.9s] B: Translation was my favourite.</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[ 7.4s] A: Show me diarization?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[10.8s] B: Sure, let's meet at ten.</a:t>
            </a:r>
            <a:endParaRPr lang="en-US" sz="1000" dirty="0"/>
          </a:p>
        </p:txBody>
      </p:sp>
      <p:sp>
        <p:nvSpPr>
          <p:cNvPr id="13" name="Text 11"/>
          <p:cNvSpPr/>
          <p:nvPr/>
        </p:nvSpPr>
        <p:spPr>
          <a:xfrm>
            <a:off x="457200" y="4023360"/>
            <a:ext cx="8229600" cy="36576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Labels are A / B — it detects speaker changes, not identities.</a:t>
            </a:r>
            <a:endParaRPr lang="en-US" sz="1300" dirty="0"/>
          </a:p>
        </p:txBody>
      </p:sp>
      <p:sp>
        <p:nvSpPr>
          <p:cNvPr id="14" name="Shape 12"/>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5" name="Text 13"/>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11_transcribe_diarize.py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GPT-AUDIO-MINI</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Beyond transcription: reasoning over audio</a:t>
            </a:r>
            <a:endParaRPr lang="en-US" sz="2600" dirty="0"/>
          </a:p>
        </p:txBody>
      </p:sp>
      <p:sp>
        <p:nvSpPr>
          <p:cNvPr id="9" name="Shape 7"/>
          <p:cNvSpPr/>
          <p:nvPr/>
        </p:nvSpPr>
        <p:spPr>
          <a:xfrm>
            <a:off x="457200" y="1188720"/>
            <a:ext cx="4572000" cy="2651760"/>
          </a:xfrm>
          <a:prstGeom prst="roundRect">
            <a:avLst>
              <a:gd name="adj" fmla="val 2759"/>
            </a:avLst>
          </a:prstGeom>
          <a:solidFill>
            <a:srgbClr val="F5F6F8"/>
          </a:solidFill>
          <a:ln w="12700">
            <a:solidFill>
              <a:srgbClr val="E5E7EB"/>
            </a:solidFill>
            <a:prstDash val="solid"/>
          </a:ln>
        </p:spPr>
      </p:sp>
      <p:sp>
        <p:nvSpPr>
          <p:cNvPr id="10" name="Text 8"/>
          <p:cNvSpPr/>
          <p:nvPr/>
        </p:nvSpPr>
        <p:spPr>
          <a:xfrm>
            <a:off x="594360" y="1280160"/>
            <a:ext cx="4297680" cy="2468880"/>
          </a:xfrm>
          <a:prstGeom prst="rect">
            <a:avLst/>
          </a:prstGeom>
          <a:noFill/>
          <a:ln/>
        </p:spPr>
        <p:txBody>
          <a:bodyPr wrap="square" lIns="0" tIns="0" rIns="0" bIns="0" rtlCol="0" anchor="t"/>
          <a:lstStyle/>
          <a:p>
            <a:pPr indent="0" marL="0">
              <a:buNone/>
            </a:pPr>
            <a:r>
              <a:rPr lang="en-US" sz="1050" dirty="0">
                <a:solidFill>
                  <a:srgbClr val="1F2330"/>
                </a:solidFill>
                <a:latin typeface="Courier New" pitchFamily="34" charset="0"/>
                <a:ea typeface="Courier New" pitchFamily="34" charset="-122"/>
                <a:cs typeface="Courier New" pitchFamily="34" charset="-120"/>
              </a:rPr>
              <a:t>client.chat.completions.create(</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model="gpt-audio-mini",</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messages=[{"role": "user", "content": [</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{"type": "text",</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"text": "Who is speaking, their role and tone?"},</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{"type": "input_audio",</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"input_audio": {"data": b64, "format": "mp3"}}]}])</a:t>
            </a:r>
            <a:endParaRPr lang="en-US" sz="1050" dirty="0"/>
          </a:p>
        </p:txBody>
      </p:sp>
      <p:sp>
        <p:nvSpPr>
          <p:cNvPr id="11" name="Shape 9"/>
          <p:cNvSpPr/>
          <p:nvPr/>
        </p:nvSpPr>
        <p:spPr>
          <a:xfrm>
            <a:off x="5303520" y="1188720"/>
            <a:ext cx="3383280" cy="2651760"/>
          </a:xfrm>
          <a:prstGeom prst="roundRect">
            <a:avLst>
              <a:gd name="adj" fmla="val 3448"/>
            </a:avLst>
          </a:prstGeom>
          <a:solidFill>
            <a:srgbClr val="F3F0FF"/>
          </a:solidFill>
          <a:ln w="12700">
            <a:solidFill>
              <a:srgbClr val="F3F0FF"/>
            </a:solidFill>
            <a:prstDash val="solid"/>
          </a:ln>
        </p:spPr>
      </p:sp>
      <p:sp>
        <p:nvSpPr>
          <p:cNvPr id="12" name="Text 10"/>
          <p:cNvSpPr/>
          <p:nvPr/>
        </p:nvSpPr>
        <p:spPr>
          <a:xfrm>
            <a:off x="5486400" y="1325880"/>
            <a:ext cx="301752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How did it know the name?</a:t>
            </a:r>
            <a:endParaRPr lang="en-US" sz="1400" dirty="0"/>
          </a:p>
        </p:txBody>
      </p:sp>
      <p:sp>
        <p:nvSpPr>
          <p:cNvPr id="13" name="Text 11"/>
          <p:cNvSpPr/>
          <p:nvPr/>
        </p:nvSpPr>
        <p:spPr>
          <a:xfrm>
            <a:off x="5486400" y="1664208"/>
            <a:ext cx="3017520" cy="20574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It didn't recognise the voice.</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Name + role → from the WORDS ("My name is Sandeep… your AI teacher").</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Tone → from the SOUND: pitch, pace, intonation.</a:t>
            </a:r>
            <a:endParaRPr lang="en-US" sz="1200" dirty="0"/>
          </a:p>
        </p:txBody>
      </p:sp>
      <p:sp>
        <p:nvSpPr>
          <p:cNvPr id="14" name="Shape 12"/>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5" name="Text 13"/>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12_audio_reasoning.py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821942"/>
            <a:ext cx="64008" cy="288036"/>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657350"/>
            <a:ext cx="64008" cy="61722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554480"/>
            <a:ext cx="64008" cy="82296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719072"/>
            <a:ext cx="64008" cy="493776"/>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842516"/>
            <a:ext cx="64008" cy="246888"/>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514600"/>
            <a:ext cx="2743200" cy="36576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03</a:t>
            </a:r>
            <a:endParaRPr lang="en-US" sz="1400" dirty="0"/>
          </a:p>
        </p:txBody>
      </p:sp>
      <p:sp>
        <p:nvSpPr>
          <p:cNvPr id="8" name="Text 6"/>
          <p:cNvSpPr/>
          <p:nvPr/>
        </p:nvSpPr>
        <p:spPr>
          <a:xfrm>
            <a:off x="640080" y="2834640"/>
            <a:ext cx="786384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Azure Speech SDK</a:t>
            </a:r>
            <a:endParaRPr lang="en-US" sz="3800" dirty="0"/>
          </a:p>
        </p:txBody>
      </p:sp>
      <p:sp>
        <p:nvSpPr>
          <p:cNvPr id="9" name="Text 7"/>
          <p:cNvSpPr/>
          <p:nvPr/>
        </p:nvSpPr>
        <p:spPr>
          <a:xfrm>
            <a:off x="640080" y="3566160"/>
            <a:ext cx="7863840" cy="45720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pip install azure-cognitiveservices-speech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HOW THE SDK WORKS</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One pattern for every Speech SDK task</a:t>
            </a:r>
            <a:endParaRPr lang="en-US" sz="2600" dirty="0"/>
          </a:p>
        </p:txBody>
      </p:sp>
      <p:sp>
        <p:nvSpPr>
          <p:cNvPr id="9" name="Shape 7"/>
          <p:cNvSpPr/>
          <p:nvPr/>
        </p:nvSpPr>
        <p:spPr>
          <a:xfrm>
            <a:off x="868680" y="1325880"/>
            <a:ext cx="548640" cy="548640"/>
          </a:xfrm>
          <a:prstGeom prst="ellipse">
            <a:avLst/>
          </a:prstGeom>
          <a:solidFill>
            <a:srgbClr val="2D1B69"/>
          </a:solidFill>
          <a:ln w="12700">
            <a:solidFill>
              <a:srgbClr val="2D1B69"/>
            </a:solidFill>
            <a:prstDash val="solid"/>
          </a:ln>
        </p:spPr>
      </p:sp>
      <p:sp>
        <p:nvSpPr>
          <p:cNvPr id="10" name="Text 8"/>
          <p:cNvSpPr/>
          <p:nvPr/>
        </p:nvSpPr>
        <p:spPr>
          <a:xfrm>
            <a:off x="868680"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Shape 9"/>
          <p:cNvSpPr/>
          <p:nvPr/>
        </p:nvSpPr>
        <p:spPr>
          <a:xfrm>
            <a:off x="1508760" y="1600200"/>
            <a:ext cx="1060704" cy="0"/>
          </a:xfrm>
          <a:prstGeom prst="line">
            <a:avLst/>
          </a:prstGeom>
          <a:noFill/>
          <a:ln w="19050">
            <a:solidFill>
              <a:srgbClr val="E5E7EB"/>
            </a:solidFill>
            <a:prstDash val="solid"/>
            <a:tailEnd type="triangle"/>
          </a:ln>
        </p:spPr>
      </p:sp>
      <p:sp>
        <p:nvSpPr>
          <p:cNvPr id="12" name="Text 10"/>
          <p:cNvSpPr/>
          <p:nvPr/>
        </p:nvSpPr>
        <p:spPr>
          <a:xfrm>
            <a:off x="457200" y="2011680"/>
            <a:ext cx="1371600" cy="548640"/>
          </a:xfrm>
          <a:prstGeom prst="rect">
            <a:avLst/>
          </a:prstGeom>
          <a:noFill/>
          <a:ln/>
        </p:spPr>
        <p:txBody>
          <a:bodyPr wrap="square" lIns="0" tIns="0" rIns="0" bIns="0" rtlCol="0" anchor="t"/>
          <a:lstStyle/>
          <a:p>
            <a:pPr algn="ctr" indent="0" marL="0">
              <a:buNone/>
            </a:pPr>
            <a:r>
              <a:rPr lang="en-US" sz="1300" b="1" dirty="0">
                <a:solidFill>
                  <a:srgbClr val="2D1B69"/>
                </a:solidFill>
                <a:latin typeface="Arial" pitchFamily="34" charset="0"/>
                <a:ea typeface="Arial" pitchFamily="34" charset="-122"/>
                <a:cs typeface="Arial" pitchFamily="34" charset="-120"/>
              </a:rPr>
              <a:t>SpeechConfig</a:t>
            </a:r>
            <a:endParaRPr lang="en-US" sz="1300" dirty="0"/>
          </a:p>
        </p:txBody>
      </p:sp>
      <p:sp>
        <p:nvSpPr>
          <p:cNvPr id="13" name="Text 11"/>
          <p:cNvSpPr/>
          <p:nvPr/>
        </p:nvSpPr>
        <p:spPr>
          <a:xfrm>
            <a:off x="457200" y="2560320"/>
            <a:ext cx="1371600" cy="54864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endpoint + key</a:t>
            </a:r>
            <a:endParaRPr lang="en-US" sz="1100" dirty="0"/>
          </a:p>
          <a:p>
            <a:pPr algn="ctr" indent="0" marL="0">
              <a:buNone/>
            </a:pPr>
            <a:r>
              <a:rPr lang="en-US" sz="1100" dirty="0">
                <a:solidFill>
                  <a:srgbClr val="6B7280"/>
                </a:solidFill>
                <a:latin typeface="Arial" pitchFamily="34" charset="0"/>
                <a:ea typeface="Arial" pitchFamily="34" charset="-122"/>
                <a:cs typeface="Arial" pitchFamily="34" charset="-120"/>
              </a:rPr>
              <a:t>or Entra ID</a:t>
            </a:r>
            <a:endParaRPr lang="en-US" sz="1100" dirty="0"/>
          </a:p>
        </p:txBody>
      </p:sp>
      <p:sp>
        <p:nvSpPr>
          <p:cNvPr id="14" name="Shape 12"/>
          <p:cNvSpPr/>
          <p:nvPr/>
        </p:nvSpPr>
        <p:spPr>
          <a:xfrm>
            <a:off x="2569464" y="1325880"/>
            <a:ext cx="548640" cy="548640"/>
          </a:xfrm>
          <a:prstGeom prst="ellipse">
            <a:avLst/>
          </a:prstGeom>
          <a:solidFill>
            <a:srgbClr val="2D1B69"/>
          </a:solidFill>
          <a:ln w="12700">
            <a:solidFill>
              <a:srgbClr val="2D1B69"/>
            </a:solidFill>
            <a:prstDash val="solid"/>
          </a:ln>
        </p:spPr>
      </p:sp>
      <p:sp>
        <p:nvSpPr>
          <p:cNvPr id="15" name="Text 13"/>
          <p:cNvSpPr/>
          <p:nvPr/>
        </p:nvSpPr>
        <p:spPr>
          <a:xfrm>
            <a:off x="2569464"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Shape 14"/>
          <p:cNvSpPr/>
          <p:nvPr/>
        </p:nvSpPr>
        <p:spPr>
          <a:xfrm>
            <a:off x="3209544" y="1600200"/>
            <a:ext cx="1060704" cy="0"/>
          </a:xfrm>
          <a:prstGeom prst="line">
            <a:avLst/>
          </a:prstGeom>
          <a:noFill/>
          <a:ln w="19050">
            <a:solidFill>
              <a:srgbClr val="E5E7EB"/>
            </a:solidFill>
            <a:prstDash val="solid"/>
            <a:tailEnd type="triangle"/>
          </a:ln>
        </p:spPr>
      </p:sp>
      <p:sp>
        <p:nvSpPr>
          <p:cNvPr id="17" name="Text 15"/>
          <p:cNvSpPr/>
          <p:nvPr/>
        </p:nvSpPr>
        <p:spPr>
          <a:xfrm>
            <a:off x="2157984" y="2011680"/>
            <a:ext cx="1371600" cy="548640"/>
          </a:xfrm>
          <a:prstGeom prst="rect">
            <a:avLst/>
          </a:prstGeom>
          <a:noFill/>
          <a:ln/>
        </p:spPr>
        <p:txBody>
          <a:bodyPr wrap="square" lIns="0" tIns="0" rIns="0" bIns="0" rtlCol="0" anchor="t"/>
          <a:lstStyle/>
          <a:p>
            <a:pPr algn="ctr" indent="0" marL="0">
              <a:buNone/>
            </a:pPr>
            <a:r>
              <a:rPr lang="en-US" sz="1300" b="1" dirty="0">
                <a:solidFill>
                  <a:srgbClr val="2D1B69"/>
                </a:solidFill>
                <a:latin typeface="Arial" pitchFamily="34" charset="0"/>
                <a:ea typeface="Arial" pitchFamily="34" charset="-122"/>
                <a:cs typeface="Arial" pitchFamily="34" charset="-120"/>
              </a:rPr>
              <a:t>AudioConfig</a:t>
            </a:r>
            <a:endParaRPr lang="en-US" sz="1300" dirty="0"/>
          </a:p>
        </p:txBody>
      </p:sp>
      <p:sp>
        <p:nvSpPr>
          <p:cNvPr id="18" name="Text 16"/>
          <p:cNvSpPr/>
          <p:nvPr/>
        </p:nvSpPr>
        <p:spPr>
          <a:xfrm>
            <a:off x="2157984" y="2560320"/>
            <a:ext cx="1371600" cy="54864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mic, speaker,</a:t>
            </a:r>
            <a:endParaRPr lang="en-US" sz="1100" dirty="0"/>
          </a:p>
          <a:p>
            <a:pPr algn="ctr" indent="0" marL="0">
              <a:buNone/>
            </a:pPr>
            <a:r>
              <a:rPr lang="en-US" sz="1100" dirty="0">
                <a:solidFill>
                  <a:srgbClr val="6B7280"/>
                </a:solidFill>
                <a:latin typeface="Arial" pitchFamily="34" charset="0"/>
                <a:ea typeface="Arial" pitchFamily="34" charset="-122"/>
                <a:cs typeface="Arial" pitchFamily="34" charset="-120"/>
              </a:rPr>
              <a:t>or file</a:t>
            </a:r>
            <a:endParaRPr lang="en-US" sz="1100" dirty="0"/>
          </a:p>
        </p:txBody>
      </p:sp>
      <p:sp>
        <p:nvSpPr>
          <p:cNvPr id="19" name="Shape 17"/>
          <p:cNvSpPr/>
          <p:nvPr/>
        </p:nvSpPr>
        <p:spPr>
          <a:xfrm>
            <a:off x="4270248" y="1325880"/>
            <a:ext cx="548640" cy="548640"/>
          </a:xfrm>
          <a:prstGeom prst="ellipse">
            <a:avLst/>
          </a:prstGeom>
          <a:solidFill>
            <a:srgbClr val="2D1B69"/>
          </a:solidFill>
          <a:ln w="12700">
            <a:solidFill>
              <a:srgbClr val="2D1B69"/>
            </a:solidFill>
            <a:prstDash val="solid"/>
          </a:ln>
        </p:spPr>
      </p:sp>
      <p:sp>
        <p:nvSpPr>
          <p:cNvPr id="20" name="Text 18"/>
          <p:cNvSpPr/>
          <p:nvPr/>
        </p:nvSpPr>
        <p:spPr>
          <a:xfrm>
            <a:off x="4270248"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Shape 19"/>
          <p:cNvSpPr/>
          <p:nvPr/>
        </p:nvSpPr>
        <p:spPr>
          <a:xfrm>
            <a:off x="4910328" y="1600200"/>
            <a:ext cx="1060704" cy="0"/>
          </a:xfrm>
          <a:prstGeom prst="line">
            <a:avLst/>
          </a:prstGeom>
          <a:noFill/>
          <a:ln w="19050">
            <a:solidFill>
              <a:srgbClr val="E5E7EB"/>
            </a:solidFill>
            <a:prstDash val="solid"/>
            <a:tailEnd type="triangle"/>
          </a:ln>
        </p:spPr>
      </p:sp>
      <p:sp>
        <p:nvSpPr>
          <p:cNvPr id="22" name="Text 20"/>
          <p:cNvSpPr/>
          <p:nvPr/>
        </p:nvSpPr>
        <p:spPr>
          <a:xfrm>
            <a:off x="3858768" y="2011680"/>
            <a:ext cx="1371600" cy="548640"/>
          </a:xfrm>
          <a:prstGeom prst="rect">
            <a:avLst/>
          </a:prstGeom>
          <a:noFill/>
          <a:ln/>
        </p:spPr>
        <p:txBody>
          <a:bodyPr wrap="square" lIns="0" tIns="0" rIns="0" bIns="0" rtlCol="0" anchor="t"/>
          <a:lstStyle/>
          <a:p>
            <a:pPr algn="ctr" indent="0" marL="0">
              <a:buNone/>
            </a:pPr>
            <a:r>
              <a:rPr lang="en-US" sz="1300" b="1" dirty="0">
                <a:solidFill>
                  <a:srgbClr val="2D1B69"/>
                </a:solidFill>
                <a:latin typeface="Arial" pitchFamily="34" charset="0"/>
                <a:ea typeface="Arial" pitchFamily="34" charset="-122"/>
                <a:cs typeface="Arial" pitchFamily="34" charset="-120"/>
              </a:rPr>
              <a:t>Recognizer /</a:t>
            </a:r>
            <a:endParaRPr lang="en-US" sz="1300" dirty="0"/>
          </a:p>
          <a:p>
            <a:pPr algn="ctr" indent="0" marL="0">
              <a:buNone/>
            </a:pPr>
            <a:r>
              <a:rPr lang="en-US" sz="1300" b="1" dirty="0">
                <a:solidFill>
                  <a:srgbClr val="2D1B69"/>
                </a:solidFill>
                <a:latin typeface="Arial" pitchFamily="34" charset="0"/>
                <a:ea typeface="Arial" pitchFamily="34" charset="-122"/>
                <a:cs typeface="Arial" pitchFamily="34" charset="-120"/>
              </a:rPr>
              <a:t>Synthesizer</a:t>
            </a:r>
            <a:endParaRPr lang="en-US" sz="1300" dirty="0"/>
          </a:p>
        </p:txBody>
      </p:sp>
      <p:sp>
        <p:nvSpPr>
          <p:cNvPr id="23" name="Text 21"/>
          <p:cNvSpPr/>
          <p:nvPr/>
        </p:nvSpPr>
        <p:spPr>
          <a:xfrm>
            <a:off x="3858768" y="2560320"/>
            <a:ext cx="1371600" cy="54864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the client</a:t>
            </a:r>
            <a:endParaRPr lang="en-US" sz="1100" dirty="0"/>
          </a:p>
          <a:p>
            <a:pPr algn="ctr" indent="0" marL="0">
              <a:buNone/>
            </a:pPr>
            <a:r>
              <a:rPr lang="en-US" sz="1100" dirty="0">
                <a:solidFill>
                  <a:srgbClr val="6B7280"/>
                </a:solidFill>
                <a:latin typeface="Arial" pitchFamily="34" charset="0"/>
                <a:ea typeface="Arial" pitchFamily="34" charset="-122"/>
                <a:cs typeface="Arial" pitchFamily="34" charset="-120"/>
              </a:rPr>
              <a:t>object</a:t>
            </a:r>
            <a:endParaRPr lang="en-US" sz="1100" dirty="0"/>
          </a:p>
        </p:txBody>
      </p:sp>
      <p:sp>
        <p:nvSpPr>
          <p:cNvPr id="24" name="Shape 22"/>
          <p:cNvSpPr/>
          <p:nvPr/>
        </p:nvSpPr>
        <p:spPr>
          <a:xfrm>
            <a:off x="5971032" y="1325880"/>
            <a:ext cx="548640" cy="548640"/>
          </a:xfrm>
          <a:prstGeom prst="ellipse">
            <a:avLst/>
          </a:prstGeom>
          <a:solidFill>
            <a:srgbClr val="2D1B69"/>
          </a:solidFill>
          <a:ln w="12700">
            <a:solidFill>
              <a:srgbClr val="2D1B69"/>
            </a:solidFill>
            <a:prstDash val="solid"/>
          </a:ln>
        </p:spPr>
      </p:sp>
      <p:sp>
        <p:nvSpPr>
          <p:cNvPr id="25" name="Text 23"/>
          <p:cNvSpPr/>
          <p:nvPr/>
        </p:nvSpPr>
        <p:spPr>
          <a:xfrm>
            <a:off x="5971032"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Shape 24"/>
          <p:cNvSpPr/>
          <p:nvPr/>
        </p:nvSpPr>
        <p:spPr>
          <a:xfrm>
            <a:off x="6611112" y="1600200"/>
            <a:ext cx="1060704" cy="0"/>
          </a:xfrm>
          <a:prstGeom prst="line">
            <a:avLst/>
          </a:prstGeom>
          <a:noFill/>
          <a:ln w="19050">
            <a:solidFill>
              <a:srgbClr val="E5E7EB"/>
            </a:solidFill>
            <a:prstDash val="solid"/>
            <a:tailEnd type="triangle"/>
          </a:ln>
        </p:spPr>
      </p:sp>
      <p:sp>
        <p:nvSpPr>
          <p:cNvPr id="27" name="Text 25"/>
          <p:cNvSpPr/>
          <p:nvPr/>
        </p:nvSpPr>
        <p:spPr>
          <a:xfrm>
            <a:off x="5559552" y="2011680"/>
            <a:ext cx="1371600" cy="548640"/>
          </a:xfrm>
          <a:prstGeom prst="rect">
            <a:avLst/>
          </a:prstGeom>
          <a:noFill/>
          <a:ln/>
        </p:spPr>
        <p:txBody>
          <a:bodyPr wrap="square" lIns="0" tIns="0" rIns="0" bIns="0" rtlCol="0" anchor="t"/>
          <a:lstStyle/>
          <a:p>
            <a:pPr algn="ctr" indent="0" marL="0">
              <a:buNone/>
            </a:pPr>
            <a:r>
              <a:rPr lang="en-US" sz="1300" b="1" dirty="0">
                <a:solidFill>
                  <a:srgbClr val="2D1B69"/>
                </a:solidFill>
                <a:latin typeface="Arial" pitchFamily="34" charset="0"/>
                <a:ea typeface="Arial" pitchFamily="34" charset="-122"/>
                <a:cs typeface="Arial" pitchFamily="34" charset="-120"/>
              </a:rPr>
              <a:t>…_async().get()</a:t>
            </a:r>
            <a:endParaRPr lang="en-US" sz="1300" dirty="0"/>
          </a:p>
        </p:txBody>
      </p:sp>
      <p:sp>
        <p:nvSpPr>
          <p:cNvPr id="28" name="Text 26"/>
          <p:cNvSpPr/>
          <p:nvPr/>
        </p:nvSpPr>
        <p:spPr>
          <a:xfrm>
            <a:off x="5559552" y="2560320"/>
            <a:ext cx="1371600" cy="54864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call the</a:t>
            </a:r>
            <a:endParaRPr lang="en-US" sz="1100" dirty="0"/>
          </a:p>
          <a:p>
            <a:pPr algn="ctr" indent="0" marL="0">
              <a:buNone/>
            </a:pPr>
            <a:r>
              <a:rPr lang="en-US" sz="1100" dirty="0">
                <a:solidFill>
                  <a:srgbClr val="6B7280"/>
                </a:solidFill>
                <a:latin typeface="Arial" pitchFamily="34" charset="0"/>
                <a:ea typeface="Arial" pitchFamily="34" charset="-122"/>
                <a:cs typeface="Arial" pitchFamily="34" charset="-120"/>
              </a:rPr>
              <a:t>service</a:t>
            </a:r>
            <a:endParaRPr lang="en-US" sz="1100" dirty="0"/>
          </a:p>
        </p:txBody>
      </p:sp>
      <p:sp>
        <p:nvSpPr>
          <p:cNvPr id="29" name="Shape 27"/>
          <p:cNvSpPr/>
          <p:nvPr/>
        </p:nvSpPr>
        <p:spPr>
          <a:xfrm>
            <a:off x="7671816" y="1325880"/>
            <a:ext cx="548640" cy="548640"/>
          </a:xfrm>
          <a:prstGeom prst="ellipse">
            <a:avLst/>
          </a:prstGeom>
          <a:solidFill>
            <a:srgbClr val="F5A524"/>
          </a:solidFill>
          <a:ln w="12700">
            <a:solidFill>
              <a:srgbClr val="F5A524"/>
            </a:solidFill>
            <a:prstDash val="solid"/>
          </a:ln>
        </p:spPr>
      </p:sp>
      <p:sp>
        <p:nvSpPr>
          <p:cNvPr id="30" name="Text 28"/>
          <p:cNvSpPr/>
          <p:nvPr/>
        </p:nvSpPr>
        <p:spPr>
          <a:xfrm>
            <a:off x="7671816" y="1325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1" name="Text 29"/>
          <p:cNvSpPr/>
          <p:nvPr/>
        </p:nvSpPr>
        <p:spPr>
          <a:xfrm>
            <a:off x="7260336" y="2011680"/>
            <a:ext cx="1371600" cy="548640"/>
          </a:xfrm>
          <a:prstGeom prst="rect">
            <a:avLst/>
          </a:prstGeom>
          <a:noFill/>
          <a:ln/>
        </p:spPr>
        <p:txBody>
          <a:bodyPr wrap="square" lIns="0" tIns="0" rIns="0" bIns="0" rtlCol="0" anchor="t"/>
          <a:lstStyle/>
          <a:p>
            <a:pPr algn="ctr" indent="0" marL="0">
              <a:buNone/>
            </a:pPr>
            <a:r>
              <a:rPr lang="en-US" sz="1300" b="1" dirty="0">
                <a:solidFill>
                  <a:srgbClr val="2D1B69"/>
                </a:solidFill>
                <a:latin typeface="Arial" pitchFamily="34" charset="0"/>
                <a:ea typeface="Arial" pitchFamily="34" charset="-122"/>
                <a:cs typeface="Arial" pitchFamily="34" charset="-120"/>
              </a:rPr>
              <a:t>Result</a:t>
            </a:r>
            <a:endParaRPr lang="en-US" sz="1300" dirty="0"/>
          </a:p>
        </p:txBody>
      </p:sp>
      <p:sp>
        <p:nvSpPr>
          <p:cNvPr id="32" name="Text 30"/>
          <p:cNvSpPr/>
          <p:nvPr/>
        </p:nvSpPr>
        <p:spPr>
          <a:xfrm>
            <a:off x="7260336" y="2560320"/>
            <a:ext cx="1371600" cy="548640"/>
          </a:xfrm>
          <a:prstGeom prst="rect">
            <a:avLst/>
          </a:prstGeom>
          <a:noFill/>
          <a:ln/>
        </p:spPr>
        <p:txBody>
          <a:bodyPr wrap="square" lIns="0" tIns="0" rIns="0" bIns="0" rtlCol="0" anchor="t"/>
          <a:lstStyle/>
          <a:p>
            <a:pPr algn="ctr" indent="0" marL="0">
              <a:buNone/>
            </a:pPr>
            <a:r>
              <a:rPr lang="en-US" sz="1100" dirty="0">
                <a:solidFill>
                  <a:srgbClr val="6B7280"/>
                </a:solidFill>
                <a:latin typeface="Arial" pitchFamily="34" charset="0"/>
                <a:ea typeface="Arial" pitchFamily="34" charset="-122"/>
                <a:cs typeface="Arial" pitchFamily="34" charset="-120"/>
              </a:rPr>
              <a:t>reason, text,</a:t>
            </a:r>
            <a:endParaRPr lang="en-US" sz="1100" dirty="0"/>
          </a:p>
          <a:p>
            <a:pPr algn="ctr" indent="0" marL="0">
              <a:buNone/>
            </a:pPr>
            <a:r>
              <a:rPr lang="en-US" sz="1100" dirty="0">
                <a:solidFill>
                  <a:srgbClr val="6B7280"/>
                </a:solidFill>
                <a:latin typeface="Arial" pitchFamily="34" charset="0"/>
                <a:ea typeface="Arial" pitchFamily="34" charset="-122"/>
                <a:cs typeface="Arial" pitchFamily="34" charset="-120"/>
              </a:rPr>
              <a:t>audio_data</a:t>
            </a:r>
            <a:endParaRPr lang="en-US" sz="1100" dirty="0"/>
          </a:p>
        </p:txBody>
      </p:sp>
      <p:sp>
        <p:nvSpPr>
          <p:cNvPr id="33" name="Shape 31"/>
          <p:cNvSpPr/>
          <p:nvPr/>
        </p:nvSpPr>
        <p:spPr>
          <a:xfrm>
            <a:off x="457200" y="3337560"/>
            <a:ext cx="8229600" cy="1097280"/>
          </a:xfrm>
          <a:prstGeom prst="roundRect">
            <a:avLst>
              <a:gd name="adj" fmla="val 6667"/>
            </a:avLst>
          </a:prstGeom>
          <a:solidFill>
            <a:srgbClr val="F5F6F8"/>
          </a:solidFill>
          <a:ln w="12700">
            <a:solidFill>
              <a:srgbClr val="E5E7EB"/>
            </a:solidFill>
            <a:prstDash val="solid"/>
          </a:ln>
        </p:spPr>
      </p:sp>
      <p:sp>
        <p:nvSpPr>
          <p:cNvPr id="34" name="Text 32"/>
          <p:cNvSpPr/>
          <p:nvPr/>
        </p:nvSpPr>
        <p:spPr>
          <a:xfrm>
            <a:off x="594360" y="3429000"/>
            <a:ext cx="7955280" cy="914400"/>
          </a:xfrm>
          <a:prstGeom prst="rect">
            <a:avLst/>
          </a:prstGeom>
          <a:noFill/>
          <a:ln/>
        </p:spPr>
        <p:txBody>
          <a:bodyPr wrap="square" lIns="0" tIns="0" rIns="0" bIns="0" rtlCol="0" anchor="t"/>
          <a:lstStyle/>
          <a:p>
            <a:pPr indent="0" marL="0">
              <a:buNone/>
            </a:pPr>
            <a:r>
              <a:rPr lang="en-US" sz="1050" dirty="0">
                <a:solidFill>
                  <a:srgbClr val="1F2330"/>
                </a:solidFill>
                <a:latin typeface="Courier New" pitchFamily="34" charset="0"/>
                <a:ea typeface="Courier New" pitchFamily="34" charset="-122"/>
                <a:cs typeface="Courier New" pitchFamily="34" charset="-120"/>
              </a:rPr>
              <a:t>config = speech_sdk.SpeechConfig(subscription=key, endpoint=endpoint)</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audio  = speech_sdk.audio.AudioConfig(use_default_microphone=True)</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rec    = speech_sdk.SpeechRecognizer(config, audio)</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result = rec.recognize_once_async().get()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RESULT OBJECTS</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Read the result — always check reason first</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91840"/>
                <a:gridCol w="310896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Property</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Speech to text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Text to speech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reason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RecognizedSpeech · NoMatch · Canceled</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SynthesizingAudioCompleted · Canceled</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text / audio_data</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The transcription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The audio bytes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duration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Length in 100-ns ticks (not seconds!)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Audio length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cancellation_details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Why it failed — bad key, region, network</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Same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bl>
          </a:graphicData>
        </a:graphic>
      </p:graphicFrame>
      <p:sp>
        <p:nvSpPr>
          <p:cNvPr id="10" name="Shape 7"/>
          <p:cNvSpPr/>
          <p:nvPr/>
        </p:nvSpPr>
        <p:spPr>
          <a:xfrm>
            <a:off x="457200" y="3291840"/>
            <a:ext cx="3977640" cy="1097280"/>
          </a:xfrm>
          <a:prstGeom prst="roundRect">
            <a:avLst>
              <a:gd name="adj" fmla="val 8333"/>
            </a:avLst>
          </a:prstGeom>
          <a:solidFill>
            <a:srgbClr val="F3F0FF"/>
          </a:solidFill>
          <a:ln w="12700">
            <a:solidFill>
              <a:srgbClr val="F3F0FF"/>
            </a:solidFill>
            <a:prstDash val="solid"/>
          </a:ln>
        </p:spPr>
      </p:sp>
      <p:sp>
        <p:nvSpPr>
          <p:cNvPr id="11" name="Text 8"/>
          <p:cNvSpPr/>
          <p:nvPr/>
        </p:nvSpPr>
        <p:spPr>
          <a:xfrm>
            <a:off x="640080" y="342900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NoMatch</a:t>
            </a:r>
            <a:endParaRPr lang="en-US" sz="1400" dirty="0"/>
          </a:p>
        </p:txBody>
      </p:sp>
      <p:sp>
        <p:nvSpPr>
          <p:cNvPr id="12" name="Text 9"/>
          <p:cNvSpPr/>
          <p:nvPr/>
        </p:nvSpPr>
        <p:spPr>
          <a:xfrm>
            <a:off x="640080" y="3767328"/>
            <a:ext cx="3611880" cy="50292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The call worked but no speech was detected — silence, wrong language or mic muted.</a:t>
            </a:r>
            <a:endParaRPr lang="en-US" sz="1200" dirty="0"/>
          </a:p>
        </p:txBody>
      </p:sp>
      <p:sp>
        <p:nvSpPr>
          <p:cNvPr id="13" name="Shape 10"/>
          <p:cNvSpPr/>
          <p:nvPr/>
        </p:nvSpPr>
        <p:spPr>
          <a:xfrm>
            <a:off x="4709160" y="3291840"/>
            <a:ext cx="3977640" cy="1097280"/>
          </a:xfrm>
          <a:prstGeom prst="roundRect">
            <a:avLst>
              <a:gd name="adj" fmla="val 8333"/>
            </a:avLst>
          </a:prstGeom>
          <a:solidFill>
            <a:srgbClr val="FFF6E6"/>
          </a:solidFill>
          <a:ln w="12700">
            <a:solidFill>
              <a:srgbClr val="FFF6E6"/>
            </a:solidFill>
            <a:prstDash val="solid"/>
          </a:ln>
        </p:spPr>
      </p:sp>
      <p:sp>
        <p:nvSpPr>
          <p:cNvPr id="14" name="Text 11"/>
          <p:cNvSpPr/>
          <p:nvPr/>
        </p:nvSpPr>
        <p:spPr>
          <a:xfrm>
            <a:off x="4892040" y="342900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Canceled</a:t>
            </a:r>
            <a:endParaRPr lang="en-US" sz="1400" dirty="0"/>
          </a:p>
        </p:txBody>
      </p:sp>
      <p:sp>
        <p:nvSpPr>
          <p:cNvPr id="15" name="Text 12"/>
          <p:cNvSpPr/>
          <p:nvPr/>
        </p:nvSpPr>
        <p:spPr>
          <a:xfrm>
            <a:off x="4892040" y="3767328"/>
            <a:ext cx="3611880" cy="50292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Something went wrong. Print cancellation_details.error_details.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SPEECH TO TEXT &amp; TEXT TO SPEECH</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STT, TTS and continuous recognition</a:t>
            </a:r>
            <a:endParaRPr lang="en-US" sz="2600" dirty="0"/>
          </a:p>
        </p:txBody>
      </p:sp>
      <p:sp>
        <p:nvSpPr>
          <p:cNvPr id="9" name="Shape 7"/>
          <p:cNvSpPr/>
          <p:nvPr/>
        </p:nvSpPr>
        <p:spPr>
          <a:xfrm>
            <a:off x="457200" y="1188720"/>
            <a:ext cx="2651760" cy="3108960"/>
          </a:xfrm>
          <a:prstGeom prst="roundRect">
            <a:avLst>
              <a:gd name="adj" fmla="val 3448"/>
            </a:avLst>
          </a:prstGeom>
          <a:solidFill>
            <a:srgbClr val="F3F0FF"/>
          </a:solidFill>
          <a:ln w="12700">
            <a:solidFill>
              <a:srgbClr val="F3F0FF"/>
            </a:solidFill>
            <a:prstDash val="solid"/>
          </a:ln>
        </p:spPr>
      </p:sp>
      <p:sp>
        <p:nvSpPr>
          <p:cNvPr id="10" name="Text 8"/>
          <p:cNvSpPr/>
          <p:nvPr/>
        </p:nvSpPr>
        <p:spPr>
          <a:xfrm>
            <a:off x="64008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Text to speech</a:t>
            </a:r>
            <a:endParaRPr lang="en-US" sz="1400" dirty="0"/>
          </a:p>
        </p:txBody>
      </p:sp>
      <p:sp>
        <p:nvSpPr>
          <p:cNvPr id="11" name="Text 9"/>
          <p:cNvSpPr/>
          <p:nvPr/>
        </p:nvSpPr>
        <p:spPr>
          <a:xfrm>
            <a:off x="640080" y="1664208"/>
            <a:ext cx="228600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SpeechSynthesizer</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AudioOutputConfig(filename)</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voice: en-GB-RyanNeural</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speak_text_async(text)</a:t>
            </a:r>
            <a:endParaRPr lang="en-US" sz="1200" dirty="0"/>
          </a:p>
        </p:txBody>
      </p:sp>
      <p:sp>
        <p:nvSpPr>
          <p:cNvPr id="12" name="Shape 10"/>
          <p:cNvSpPr/>
          <p:nvPr/>
        </p:nvSpPr>
        <p:spPr>
          <a:xfrm>
            <a:off x="3246120" y="1188720"/>
            <a:ext cx="2651760" cy="3108960"/>
          </a:xfrm>
          <a:prstGeom prst="roundRect">
            <a:avLst>
              <a:gd name="adj" fmla="val 3448"/>
            </a:avLst>
          </a:prstGeom>
          <a:solidFill>
            <a:srgbClr val="F3F0FF"/>
          </a:solidFill>
          <a:ln w="12700">
            <a:solidFill>
              <a:srgbClr val="F3F0FF"/>
            </a:solidFill>
            <a:prstDash val="solid"/>
          </a:ln>
        </p:spPr>
      </p:sp>
      <p:sp>
        <p:nvSpPr>
          <p:cNvPr id="13" name="Text 11"/>
          <p:cNvSpPr/>
          <p:nvPr/>
        </p:nvSpPr>
        <p:spPr>
          <a:xfrm>
            <a:off x="342900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Recognise once</a:t>
            </a:r>
            <a:endParaRPr lang="en-US" sz="1400" dirty="0"/>
          </a:p>
        </p:txBody>
      </p:sp>
      <p:sp>
        <p:nvSpPr>
          <p:cNvPr id="14" name="Text 12"/>
          <p:cNvSpPr/>
          <p:nvPr/>
        </p:nvSpPr>
        <p:spPr>
          <a:xfrm>
            <a:off x="3429000" y="1664208"/>
            <a:ext cx="228600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SpeechRecognizer</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mic or file</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recognize_once_async()</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Stops at first pause</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(max ~30 s)</a:t>
            </a:r>
            <a:endParaRPr lang="en-US" sz="1200" dirty="0"/>
          </a:p>
        </p:txBody>
      </p:sp>
      <p:sp>
        <p:nvSpPr>
          <p:cNvPr id="15" name="Shape 13"/>
          <p:cNvSpPr/>
          <p:nvPr/>
        </p:nvSpPr>
        <p:spPr>
          <a:xfrm>
            <a:off x="6035040" y="1188720"/>
            <a:ext cx="2651760" cy="3108960"/>
          </a:xfrm>
          <a:prstGeom prst="roundRect">
            <a:avLst>
              <a:gd name="adj" fmla="val 3448"/>
            </a:avLst>
          </a:prstGeom>
          <a:solidFill>
            <a:srgbClr val="FFF6E6"/>
          </a:solidFill>
          <a:ln w="12700">
            <a:solidFill>
              <a:srgbClr val="FFF6E6"/>
            </a:solidFill>
            <a:prstDash val="solid"/>
          </a:ln>
        </p:spPr>
      </p:sp>
      <p:sp>
        <p:nvSpPr>
          <p:cNvPr id="16" name="Text 14"/>
          <p:cNvSpPr/>
          <p:nvPr/>
        </p:nvSpPr>
        <p:spPr>
          <a:xfrm>
            <a:off x="621792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Continuous</a:t>
            </a:r>
            <a:endParaRPr lang="en-US" sz="1400" dirty="0"/>
          </a:p>
        </p:txBody>
      </p:sp>
      <p:sp>
        <p:nvSpPr>
          <p:cNvPr id="17" name="Text 15"/>
          <p:cNvSpPr/>
          <p:nvPr/>
        </p:nvSpPr>
        <p:spPr>
          <a:xfrm>
            <a:off x="6217920" y="1664208"/>
            <a:ext cx="228600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start_continuous_recognition()</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Events:</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recognizing — partial</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recognized — final</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canceled / session_stopped</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For meetings &amp; long audio</a:t>
            </a:r>
            <a:endParaRPr lang="en-US" sz="1200" dirty="0"/>
          </a:p>
        </p:txBody>
      </p:sp>
      <p:sp>
        <p:nvSpPr>
          <p:cNvPr id="18" name="Shape 16"/>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9" name="Text 17"/>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04_speech_sdk_tts_stt.py  ·  05_continuous_stt.py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SPEECH SYNTHESIS MARKUP LANGUAGE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SSML: control exactly how it sounds</a:t>
            </a:r>
            <a:endParaRPr lang="en-US" sz="2600" dirty="0"/>
          </a:p>
        </p:txBody>
      </p:sp>
      <p:sp>
        <p:nvSpPr>
          <p:cNvPr id="9" name="Shape 7"/>
          <p:cNvSpPr/>
          <p:nvPr/>
        </p:nvSpPr>
        <p:spPr>
          <a:xfrm>
            <a:off x="457200" y="1188720"/>
            <a:ext cx="4754880" cy="3200400"/>
          </a:xfrm>
          <a:prstGeom prst="roundRect">
            <a:avLst>
              <a:gd name="adj" fmla="val 2286"/>
            </a:avLst>
          </a:prstGeom>
          <a:solidFill>
            <a:srgbClr val="F5F6F8"/>
          </a:solidFill>
          <a:ln w="12700">
            <a:solidFill>
              <a:srgbClr val="E5E7EB"/>
            </a:solidFill>
            <a:prstDash val="solid"/>
          </a:ln>
        </p:spPr>
      </p:sp>
      <p:sp>
        <p:nvSpPr>
          <p:cNvPr id="10" name="Text 8"/>
          <p:cNvSpPr/>
          <p:nvPr/>
        </p:nvSpPr>
        <p:spPr>
          <a:xfrm>
            <a:off x="594360" y="1280160"/>
            <a:ext cx="4480560" cy="3017520"/>
          </a:xfrm>
          <a:prstGeom prst="rect">
            <a:avLst/>
          </a:prstGeom>
          <a:noFill/>
          <a:ln/>
        </p:spPr>
        <p:txBody>
          <a:bodyPr wrap="square" lIns="0" tIns="0" rIns="0" bIns="0" rtlCol="0" anchor="t"/>
          <a:lstStyle/>
          <a:p>
            <a:pPr indent="0" marL="0">
              <a:buNone/>
            </a:pPr>
            <a:r>
              <a:rPr lang="en-US" sz="1000" dirty="0">
                <a:solidFill>
                  <a:srgbClr val="1F2330"/>
                </a:solidFill>
                <a:latin typeface="Courier New" pitchFamily="34" charset="0"/>
                <a:ea typeface="Courier New" pitchFamily="34" charset="-122"/>
                <a:cs typeface="Courier New" pitchFamily="34" charset="-120"/>
              </a:rPr>
              <a:t>&lt;speak version='1.0' xml:lang='en-US'</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xmlns:mstts='http://www.w3.org/2001/mstts'&gt;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&lt;voice name='en-US-AvaNeural'&gt;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&lt;mstts:express-as style='cheerful'&gt;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I say tomato!&lt;/mstts:express-as&gt;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&lt;break time='500ms'/&gt;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&lt;prosody rate='slow' pitch='+10%'&gt;Slowly.&lt;/prosody&gt;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&lt;say-as interpret-as='date'&gt;2026-09-27&lt;/say-as&gt;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&lt;/voice&gt;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&lt;voice name='en-IN-PrabhatNeural'&gt;Hello from India&lt;/voice&gt;</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&lt;/speak&gt;</a:t>
            </a:r>
            <a:endParaRPr lang="en-US" sz="1000" dirty="0"/>
          </a:p>
        </p:txBody>
      </p:sp>
      <p:sp>
        <p:nvSpPr>
          <p:cNvPr id="11" name="Text 9"/>
          <p:cNvSpPr/>
          <p:nvPr/>
        </p:nvSpPr>
        <p:spPr>
          <a:xfrm>
            <a:off x="5486400" y="1234440"/>
            <a:ext cx="32004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Styles — cheerful, excited, sad</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Pauses — &lt;break&gt;</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Prosody — rate, pitch, volume</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Phonemes — say "SQL" as "sequel"</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say-as — dates, phone numbers</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Multiple voices in one file</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speak_ssml_async(ssml)</a:t>
            </a:r>
            <a:endParaRPr lang="en-US" sz="1400" dirty="0"/>
          </a:p>
        </p:txBody>
      </p:sp>
      <p:sp>
        <p:nvSpPr>
          <p:cNvPr id="12" name="Shape 10"/>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3" name="Text 11"/>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06_ssml_to_speech.py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RECOGNITION EXTRAS</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Language ID and phrase lists</a:t>
            </a:r>
            <a:endParaRPr lang="en-US" sz="2600" dirty="0"/>
          </a:p>
        </p:txBody>
      </p:sp>
      <p:sp>
        <p:nvSpPr>
          <p:cNvPr id="9" name="Shape 7"/>
          <p:cNvSpPr/>
          <p:nvPr/>
        </p:nvSpPr>
        <p:spPr>
          <a:xfrm>
            <a:off x="457200" y="1188720"/>
            <a:ext cx="5120640" cy="2834640"/>
          </a:xfrm>
          <a:prstGeom prst="roundRect">
            <a:avLst>
              <a:gd name="adj" fmla="val 2581"/>
            </a:avLst>
          </a:prstGeom>
          <a:solidFill>
            <a:srgbClr val="F5F6F8"/>
          </a:solidFill>
          <a:ln w="12700">
            <a:solidFill>
              <a:srgbClr val="E5E7EB"/>
            </a:solidFill>
            <a:prstDash val="solid"/>
          </a:ln>
        </p:spPr>
      </p:sp>
      <p:sp>
        <p:nvSpPr>
          <p:cNvPr id="10" name="Text 8"/>
          <p:cNvSpPr/>
          <p:nvPr/>
        </p:nvSpPr>
        <p:spPr>
          <a:xfrm>
            <a:off x="594360" y="1280160"/>
            <a:ext cx="4846320" cy="2651760"/>
          </a:xfrm>
          <a:prstGeom prst="rect">
            <a:avLst/>
          </a:prstGeom>
          <a:noFill/>
          <a:ln/>
        </p:spPr>
        <p:txBody>
          <a:bodyPr wrap="square" lIns="0" tIns="0" rIns="0" bIns="0" rtlCol="0" anchor="t"/>
          <a:lstStyle/>
          <a:p>
            <a:pPr indent="0" marL="0">
              <a:buNone/>
            </a:pPr>
            <a:r>
              <a:rPr lang="en-US" sz="1050" dirty="0">
                <a:solidFill>
                  <a:srgbClr val="1F2330"/>
                </a:solidFill>
                <a:latin typeface="Courier New" pitchFamily="34" charset="0"/>
                <a:ea typeface="Courier New" pitchFamily="34" charset="-122"/>
                <a:cs typeface="Courier New" pitchFamily="34" charset="-120"/>
              </a:rPr>
              <a:t>auto = AutoDetectSourceLanguageConfig(</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languages=["en-US", "hi-IN", "fr-FR", "es-ES"])</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rec = SpeechRecognizer(config,</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auto_detect_source_language_config=auto,</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        audio_config=a)</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lang = AutoDetectSourceLanguageResult(result).language</a:t>
            </a:r>
            <a:endParaRPr lang="en-US" sz="1050" dirty="0"/>
          </a:p>
          <a:p>
            <a:pPr indent="0" marL="0">
              <a:buNone/>
            </a:pP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pl = PhraseListGrammar.from_recognizer(rec)</a:t>
            </a:r>
            <a:endParaRPr lang="en-US" sz="1050" dirty="0"/>
          </a:p>
          <a:p>
            <a:pPr indent="0" marL="0">
              <a:buNone/>
            </a:pPr>
            <a:r>
              <a:rPr lang="en-US" sz="1050" dirty="0">
                <a:solidFill>
                  <a:srgbClr val="1F2330"/>
                </a:solidFill>
                <a:latin typeface="Courier New" pitchFamily="34" charset="0"/>
                <a:ea typeface="Courier New" pitchFamily="34" charset="-122"/>
                <a:cs typeface="Courier New" pitchFamily="34" charset="-120"/>
              </a:rPr>
              <a:t>pl.addPhrase("Foundry")</a:t>
            </a:r>
            <a:endParaRPr lang="en-US" sz="1050" dirty="0"/>
          </a:p>
        </p:txBody>
      </p:sp>
      <p:sp>
        <p:nvSpPr>
          <p:cNvPr id="11" name="Shape 9"/>
          <p:cNvSpPr/>
          <p:nvPr/>
        </p:nvSpPr>
        <p:spPr>
          <a:xfrm>
            <a:off x="5852160" y="1188720"/>
            <a:ext cx="2834640" cy="1325880"/>
          </a:xfrm>
          <a:prstGeom prst="roundRect">
            <a:avLst>
              <a:gd name="adj" fmla="val 6897"/>
            </a:avLst>
          </a:prstGeom>
          <a:solidFill>
            <a:srgbClr val="F3F0FF"/>
          </a:solidFill>
          <a:ln w="12700">
            <a:solidFill>
              <a:srgbClr val="F3F0FF"/>
            </a:solidFill>
            <a:prstDash val="solid"/>
          </a:ln>
        </p:spPr>
      </p:sp>
      <p:sp>
        <p:nvSpPr>
          <p:cNvPr id="12" name="Text 10"/>
          <p:cNvSpPr/>
          <p:nvPr/>
        </p:nvSpPr>
        <p:spPr>
          <a:xfrm>
            <a:off x="6035040" y="1325880"/>
            <a:ext cx="2468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Language ID</a:t>
            </a:r>
            <a:endParaRPr lang="en-US" sz="1400" dirty="0"/>
          </a:p>
        </p:txBody>
      </p:sp>
      <p:sp>
        <p:nvSpPr>
          <p:cNvPr id="13" name="Text 11"/>
          <p:cNvSpPr/>
          <p:nvPr/>
        </p:nvSpPr>
        <p:spPr>
          <a:xfrm>
            <a:off x="6035040" y="1664208"/>
            <a:ext cx="2468880" cy="73152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Pick from up to 4 candidates at the start, or 10 continuously. Result: hi-IN</a:t>
            </a:r>
            <a:endParaRPr lang="en-US" sz="1200" dirty="0"/>
          </a:p>
        </p:txBody>
      </p:sp>
      <p:sp>
        <p:nvSpPr>
          <p:cNvPr id="14" name="Shape 12"/>
          <p:cNvSpPr/>
          <p:nvPr/>
        </p:nvSpPr>
        <p:spPr>
          <a:xfrm>
            <a:off x="5852160" y="2697480"/>
            <a:ext cx="2834640" cy="1325880"/>
          </a:xfrm>
          <a:prstGeom prst="roundRect">
            <a:avLst>
              <a:gd name="adj" fmla="val 6897"/>
            </a:avLst>
          </a:prstGeom>
          <a:solidFill>
            <a:srgbClr val="FFF6E6"/>
          </a:solidFill>
          <a:ln w="12700">
            <a:solidFill>
              <a:srgbClr val="FFF6E6"/>
            </a:solidFill>
            <a:prstDash val="solid"/>
          </a:ln>
        </p:spPr>
      </p:sp>
      <p:sp>
        <p:nvSpPr>
          <p:cNvPr id="15" name="Text 13"/>
          <p:cNvSpPr/>
          <p:nvPr/>
        </p:nvSpPr>
        <p:spPr>
          <a:xfrm>
            <a:off x="6035040" y="2834640"/>
            <a:ext cx="2468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Phrase list</a:t>
            </a:r>
            <a:endParaRPr lang="en-US" sz="1400" dirty="0"/>
          </a:p>
        </p:txBody>
      </p:sp>
      <p:sp>
        <p:nvSpPr>
          <p:cNvPr id="16" name="Text 14"/>
          <p:cNvSpPr/>
          <p:nvPr/>
        </p:nvSpPr>
        <p:spPr>
          <a:xfrm>
            <a:off x="6035040" y="3172968"/>
            <a:ext cx="2468880" cy="73152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Boosts names &amp; jargon. No training. For more, use Custom Speech.</a:t>
            </a:r>
            <a:endParaRPr lang="en-US" sz="1200" dirty="0"/>
          </a:p>
        </p:txBody>
      </p:sp>
      <p:sp>
        <p:nvSpPr>
          <p:cNvPr id="17" name="Shape 15"/>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8" name="Text 16"/>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13_phrase_list_language_id.py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821942"/>
            <a:ext cx="64008" cy="288036"/>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657350"/>
            <a:ext cx="64008" cy="61722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554480"/>
            <a:ext cx="64008" cy="82296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719072"/>
            <a:ext cx="64008" cy="493776"/>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842516"/>
            <a:ext cx="64008" cy="246888"/>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514600"/>
            <a:ext cx="2743200" cy="36576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04</a:t>
            </a:r>
            <a:endParaRPr lang="en-US" sz="1400" dirty="0"/>
          </a:p>
        </p:txBody>
      </p:sp>
      <p:sp>
        <p:nvSpPr>
          <p:cNvPr id="8" name="Text 6"/>
          <p:cNvSpPr/>
          <p:nvPr/>
        </p:nvSpPr>
        <p:spPr>
          <a:xfrm>
            <a:off x="640080" y="2834640"/>
            <a:ext cx="786384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Translation</a:t>
            </a:r>
            <a:endParaRPr lang="en-US" sz="3800" dirty="0"/>
          </a:p>
        </p:txBody>
      </p:sp>
      <p:sp>
        <p:nvSpPr>
          <p:cNvPr id="9" name="Text 7"/>
          <p:cNvSpPr/>
          <p:nvPr/>
        </p:nvSpPr>
        <p:spPr>
          <a:xfrm>
            <a:off x="640080" y="3566160"/>
            <a:ext cx="7863840" cy="45720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Text and speech, 100+ languages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AZURE TRANSLATOR</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Translate vs transliterate</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1737360"/>
                <a:gridCol w="19202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Operation</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Input</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Output</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changed?</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300" dirty="0">
                          <a:solidFill>
                            <a:srgbClr val="1F2330"/>
                          </a:solidFill>
                          <a:latin typeface="Arial" pitchFamily="34" charset="0"/>
                          <a:ea typeface="Arial" pitchFamily="34" charset="-122"/>
                          <a:cs typeface="Arial" pitchFamily="34" charset="-120"/>
                        </a:rPr>
                        <a:t>Translate</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मैं ठीक हूँ</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I am fine</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Language and script</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330"/>
                          </a:solidFill>
                          <a:latin typeface="Arial" pitchFamily="34" charset="0"/>
                          <a:ea typeface="Arial" pitchFamily="34" charset="-122"/>
                          <a:cs typeface="Arial" pitchFamily="34" charset="-120"/>
                        </a:rPr>
                        <a:t>Transliterate</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मैं ठीक हूँ</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main theek hoon</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300" dirty="0">
                          <a:solidFill>
                            <a:srgbClr val="1F2330"/>
                          </a:solidFill>
                          <a:latin typeface="Arial" pitchFamily="34" charset="0"/>
                          <a:ea typeface="Arial" pitchFamily="34" charset="-122"/>
                          <a:cs typeface="Arial" pitchFamily="34" charset="-120"/>
                        </a:rPr>
                        <a:t>Script only — still Hindi</a:t>
                      </a:r>
                      <a:endParaRPr lang="en-US" sz="13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bl>
          </a:graphicData>
        </a:graphic>
      </p:graphicFrame>
      <p:sp>
        <p:nvSpPr>
          <p:cNvPr id="10" name="Shape 7"/>
          <p:cNvSpPr/>
          <p:nvPr/>
        </p:nvSpPr>
        <p:spPr>
          <a:xfrm>
            <a:off x="457200" y="2606040"/>
            <a:ext cx="8229600" cy="1097280"/>
          </a:xfrm>
          <a:prstGeom prst="roundRect">
            <a:avLst>
              <a:gd name="adj" fmla="val 6667"/>
            </a:avLst>
          </a:prstGeom>
          <a:solidFill>
            <a:srgbClr val="F5F6F8"/>
          </a:solidFill>
          <a:ln w="12700">
            <a:solidFill>
              <a:srgbClr val="E5E7EB"/>
            </a:solidFill>
            <a:prstDash val="solid"/>
          </a:ln>
        </p:spPr>
      </p:sp>
      <p:sp>
        <p:nvSpPr>
          <p:cNvPr id="11" name="Text 8"/>
          <p:cNvSpPr/>
          <p:nvPr/>
        </p:nvSpPr>
        <p:spPr>
          <a:xfrm>
            <a:off x="594360" y="2697480"/>
            <a:ext cx="7955280" cy="914400"/>
          </a:xfrm>
          <a:prstGeom prst="rect">
            <a:avLst/>
          </a:prstGeom>
          <a:noFill/>
          <a:ln/>
        </p:spPr>
        <p:txBody>
          <a:bodyPr wrap="square" lIns="0" tIns="0" rIns="0" bIns="0" rtlCol="0" anchor="t"/>
          <a:lstStyle/>
          <a:p>
            <a:pPr indent="0" marL="0">
              <a:buNone/>
            </a:pPr>
            <a:r>
              <a:rPr lang="en-US" sz="1000" dirty="0">
                <a:solidFill>
                  <a:srgbClr val="1F2330"/>
                </a:solidFill>
                <a:latin typeface="Courier New" pitchFamily="34" charset="0"/>
                <a:ea typeface="Courier New" pitchFamily="34" charset="-122"/>
                <a:cs typeface="Courier New" pitchFamily="34" charset="-120"/>
              </a:rPr>
              <a:t>client = TextTranslationClient(endpoint=ep, credential=DefaultAzureCredential())</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r = client.translate(body=[text], to_language=["hi"])</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client.transliterate(body=[hindi], language="hi", from_script="Deva", to_script="Latn")</a:t>
            </a:r>
            <a:endParaRPr lang="en-US" sz="1000" dirty="0"/>
          </a:p>
        </p:txBody>
      </p:sp>
      <p:sp>
        <p:nvSpPr>
          <p:cNvPr id="12" name="Text 9"/>
          <p:cNvSpPr/>
          <p:nvPr/>
        </p:nvSpPr>
        <p:spPr>
          <a:xfrm>
            <a:off x="457200" y="3886200"/>
            <a:ext cx="8229600" cy="36576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azure-ai-translation-text 2.0 changed the API — pin &lt;2 for this sample, or check the new signature.</a:t>
            </a:r>
            <a:endParaRPr lang="en-US" sz="1200" dirty="0"/>
          </a:p>
        </p:txBody>
      </p:sp>
      <p:sp>
        <p:nvSpPr>
          <p:cNvPr id="13" name="Shape 10"/>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4" name="Text 11"/>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07_text_translation.py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SPEECH SDK</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Speech-to-speech translation</a:t>
            </a:r>
            <a:endParaRPr lang="en-US" sz="2600" dirty="0"/>
          </a:p>
        </p:txBody>
      </p:sp>
      <p:sp>
        <p:nvSpPr>
          <p:cNvPr id="9" name="Shape 7"/>
          <p:cNvSpPr/>
          <p:nvPr/>
        </p:nvSpPr>
        <p:spPr>
          <a:xfrm>
            <a:off x="457200" y="1188720"/>
            <a:ext cx="3977640" cy="3108960"/>
          </a:xfrm>
          <a:prstGeom prst="roundRect">
            <a:avLst>
              <a:gd name="adj" fmla="val 2941"/>
            </a:avLst>
          </a:prstGeom>
          <a:solidFill>
            <a:srgbClr val="F3F0FF"/>
          </a:solidFill>
          <a:ln w="12700">
            <a:solidFill>
              <a:srgbClr val="F3F0FF"/>
            </a:solidFill>
            <a:prstDash val="solid"/>
          </a:ln>
        </p:spPr>
      </p:sp>
      <p:sp>
        <p:nvSpPr>
          <p:cNvPr id="10" name="Text 8"/>
          <p:cNvSpPr/>
          <p:nvPr/>
        </p:nvSpPr>
        <p:spPr>
          <a:xfrm>
            <a:off x="640080" y="132588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Manual synthesis — many languages</a:t>
            </a:r>
            <a:endParaRPr lang="en-US" sz="1400" dirty="0"/>
          </a:p>
        </p:txBody>
      </p:sp>
      <p:sp>
        <p:nvSpPr>
          <p:cNvPr id="11" name="Text 9"/>
          <p:cNvSpPr/>
          <p:nvPr/>
        </p:nvSpPr>
        <p:spPr>
          <a:xfrm>
            <a:off x="640080" y="1664208"/>
            <a:ext cx="361188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TranslationRecognizer → text in fr, hi …</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then SpeechSynthesizer per language.</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cfg.speech_recognition_language = 'en-US'</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cfg.add_target_language('fr')</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cfg.add_target_language('hi')</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Output: fr 'Salut, c'est Adam.'</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hi 'नमस्ते, एडम यहाँ।'</a:t>
            </a:r>
            <a:endParaRPr lang="en-US" sz="1200" dirty="0"/>
          </a:p>
        </p:txBody>
      </p:sp>
      <p:sp>
        <p:nvSpPr>
          <p:cNvPr id="12" name="Shape 10"/>
          <p:cNvSpPr/>
          <p:nvPr/>
        </p:nvSpPr>
        <p:spPr>
          <a:xfrm>
            <a:off x="4709160" y="1188720"/>
            <a:ext cx="3977640" cy="3108960"/>
          </a:xfrm>
          <a:prstGeom prst="roundRect">
            <a:avLst>
              <a:gd name="adj" fmla="val 2941"/>
            </a:avLst>
          </a:prstGeom>
          <a:solidFill>
            <a:srgbClr val="FFF6E6"/>
          </a:solidFill>
          <a:ln w="12700">
            <a:solidFill>
              <a:srgbClr val="FFF6E6"/>
            </a:solidFill>
            <a:prstDash val="solid"/>
          </a:ln>
        </p:spPr>
      </p:sp>
      <p:sp>
        <p:nvSpPr>
          <p:cNvPr id="13" name="Text 11"/>
          <p:cNvSpPr/>
          <p:nvPr/>
        </p:nvSpPr>
        <p:spPr>
          <a:xfrm>
            <a:off x="4892040" y="1325880"/>
            <a:ext cx="361188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Event-based — one language</a:t>
            </a:r>
            <a:endParaRPr lang="en-US" sz="1400" dirty="0"/>
          </a:p>
        </p:txBody>
      </p:sp>
      <p:sp>
        <p:nvSpPr>
          <p:cNvPr id="14" name="Text 12"/>
          <p:cNvSpPr/>
          <p:nvPr/>
        </p:nvSpPr>
        <p:spPr>
          <a:xfrm>
            <a:off x="4892040" y="1664208"/>
            <a:ext cx="3611880" cy="251460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Set cfg.voice_name = 'hi-IN-MadhurNeural'</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Subscribe to the synthesizing event;</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evt.result.audio gives the translated speech.</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Only 1 : 1 (single target language).</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Less code, lower latency.</a:t>
            </a:r>
            <a:endParaRPr lang="en-US" sz="1200" dirty="0"/>
          </a:p>
        </p:txBody>
      </p:sp>
      <p:sp>
        <p:nvSpPr>
          <p:cNvPr id="15" name="Shape 13"/>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6" name="Text 14"/>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08_speech_translation_multi.py  ·  09_..._event.py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821942"/>
            <a:ext cx="64008" cy="288036"/>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657350"/>
            <a:ext cx="64008" cy="61722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554480"/>
            <a:ext cx="64008" cy="82296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719072"/>
            <a:ext cx="64008" cy="493776"/>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842516"/>
            <a:ext cx="64008" cy="246888"/>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514600"/>
            <a:ext cx="2743200" cy="36576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05</a:t>
            </a:r>
            <a:endParaRPr lang="en-US" sz="1400" dirty="0"/>
          </a:p>
        </p:txBody>
      </p:sp>
      <p:sp>
        <p:nvSpPr>
          <p:cNvPr id="8" name="Text 6"/>
          <p:cNvSpPr/>
          <p:nvPr/>
        </p:nvSpPr>
        <p:spPr>
          <a:xfrm>
            <a:off x="640080" y="2834640"/>
            <a:ext cx="786384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Voice Live</a:t>
            </a:r>
            <a:endParaRPr lang="en-US" sz="3800" dirty="0"/>
          </a:p>
        </p:txBody>
      </p:sp>
      <p:sp>
        <p:nvSpPr>
          <p:cNvPr id="9" name="Text 7"/>
          <p:cNvSpPr/>
          <p:nvPr/>
        </p:nvSpPr>
        <p:spPr>
          <a:xfrm>
            <a:off x="640080" y="3566160"/>
            <a:ext cx="7863840" cy="45720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Real-time speech-to-speech voice agents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WHY VOICE LIVE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Classic pipeline vs Voice Live</a:t>
            </a:r>
            <a:endParaRPr lang="en-US" sz="2600" dirty="0"/>
          </a:p>
        </p:txBody>
      </p:sp>
      <p:sp>
        <p:nvSpPr>
          <p:cNvPr id="9" name="Text 7"/>
          <p:cNvSpPr/>
          <p:nvPr/>
        </p:nvSpPr>
        <p:spPr>
          <a:xfrm>
            <a:off x="457200" y="1188720"/>
            <a:ext cx="8229600" cy="274320"/>
          </a:xfrm>
          <a:prstGeom prst="rect">
            <a:avLst/>
          </a:prstGeom>
          <a:noFill/>
          <a:ln/>
        </p:spPr>
        <p:txBody>
          <a:bodyPr wrap="square" lIns="0" tIns="0" rIns="0" bIns="0" rtlCol="0" anchor="ctr"/>
          <a:lstStyle/>
          <a:p>
            <a:pPr indent="0" marL="0">
              <a:buNone/>
            </a:pPr>
            <a:r>
              <a:rPr lang="en-US" sz="1300" b="1" dirty="0">
                <a:solidFill>
                  <a:srgbClr val="6B7280"/>
                </a:solidFill>
                <a:latin typeface="Arial" pitchFamily="34" charset="0"/>
                <a:ea typeface="Arial" pitchFamily="34" charset="-122"/>
                <a:cs typeface="Arial" pitchFamily="34" charset="-120"/>
              </a:rPr>
              <a:t>Classic: 3 services, 3 round trips  ·  ~1.5–3 s</a:t>
            </a:r>
            <a:endParaRPr lang="en-US" sz="1300" dirty="0"/>
          </a:p>
        </p:txBody>
      </p:sp>
      <p:sp>
        <p:nvSpPr>
          <p:cNvPr id="10" name="Shape 8"/>
          <p:cNvSpPr/>
          <p:nvPr/>
        </p:nvSpPr>
        <p:spPr>
          <a:xfrm>
            <a:off x="457200" y="1554480"/>
            <a:ext cx="2377440" cy="640080"/>
          </a:xfrm>
          <a:prstGeom prst="roundRect">
            <a:avLst>
              <a:gd name="adj" fmla="val 14286"/>
            </a:avLst>
          </a:prstGeom>
          <a:solidFill>
            <a:srgbClr val="F1F2F4"/>
          </a:solidFill>
          <a:ln w="12700">
            <a:solidFill>
              <a:srgbClr val="F1F2F4"/>
            </a:solidFill>
            <a:prstDash val="solid"/>
          </a:ln>
        </p:spPr>
      </p:sp>
      <p:sp>
        <p:nvSpPr>
          <p:cNvPr id="11" name="Text 9"/>
          <p:cNvSpPr/>
          <p:nvPr/>
        </p:nvSpPr>
        <p:spPr>
          <a:xfrm>
            <a:off x="457200" y="1554480"/>
            <a:ext cx="2377440" cy="640080"/>
          </a:xfrm>
          <a:prstGeom prst="rect">
            <a:avLst/>
          </a:prstGeom>
          <a:noFill/>
          <a:ln/>
        </p:spPr>
        <p:txBody>
          <a:bodyPr wrap="square" lIns="0" tIns="0" rIns="0" bIns="0" rtlCol="0" anchor="ctr"/>
          <a:lstStyle/>
          <a:p>
            <a:pPr algn="ctr" indent="0" marL="0">
              <a:buNone/>
            </a:pPr>
            <a:r>
              <a:rPr lang="en-US" sz="1400" dirty="0">
                <a:solidFill>
                  <a:srgbClr val="1F2330"/>
                </a:solidFill>
                <a:latin typeface="Arial" pitchFamily="34" charset="0"/>
                <a:ea typeface="Arial" pitchFamily="34" charset="-122"/>
                <a:cs typeface="Arial" pitchFamily="34" charset="-120"/>
              </a:rPr>
              <a:t>Speech to text</a:t>
            </a:r>
            <a:endParaRPr lang="en-US" sz="1400" dirty="0"/>
          </a:p>
        </p:txBody>
      </p:sp>
      <p:sp>
        <p:nvSpPr>
          <p:cNvPr id="12" name="Shape 10"/>
          <p:cNvSpPr/>
          <p:nvPr/>
        </p:nvSpPr>
        <p:spPr>
          <a:xfrm>
            <a:off x="2880360" y="1874520"/>
            <a:ext cx="365760" cy="0"/>
          </a:xfrm>
          <a:prstGeom prst="line">
            <a:avLst/>
          </a:prstGeom>
          <a:noFill/>
          <a:ln w="19050">
            <a:solidFill>
              <a:srgbClr val="6B7280"/>
            </a:solidFill>
            <a:prstDash val="solid"/>
            <a:tailEnd type="triangle"/>
          </a:ln>
        </p:spPr>
      </p:sp>
      <p:sp>
        <p:nvSpPr>
          <p:cNvPr id="13" name="Shape 11"/>
          <p:cNvSpPr/>
          <p:nvPr/>
        </p:nvSpPr>
        <p:spPr>
          <a:xfrm>
            <a:off x="3291840" y="1554480"/>
            <a:ext cx="2377440" cy="640080"/>
          </a:xfrm>
          <a:prstGeom prst="roundRect">
            <a:avLst>
              <a:gd name="adj" fmla="val 14286"/>
            </a:avLst>
          </a:prstGeom>
          <a:solidFill>
            <a:srgbClr val="F1F2F4"/>
          </a:solidFill>
          <a:ln w="12700">
            <a:solidFill>
              <a:srgbClr val="F1F2F4"/>
            </a:solidFill>
            <a:prstDash val="solid"/>
          </a:ln>
        </p:spPr>
      </p:sp>
      <p:sp>
        <p:nvSpPr>
          <p:cNvPr id="14" name="Text 12"/>
          <p:cNvSpPr/>
          <p:nvPr/>
        </p:nvSpPr>
        <p:spPr>
          <a:xfrm>
            <a:off x="3291840" y="1554480"/>
            <a:ext cx="2377440" cy="640080"/>
          </a:xfrm>
          <a:prstGeom prst="rect">
            <a:avLst/>
          </a:prstGeom>
          <a:noFill/>
          <a:ln/>
        </p:spPr>
        <p:txBody>
          <a:bodyPr wrap="square" lIns="0" tIns="0" rIns="0" bIns="0" rtlCol="0" anchor="ctr"/>
          <a:lstStyle/>
          <a:p>
            <a:pPr algn="ctr" indent="0" marL="0">
              <a:buNone/>
            </a:pPr>
            <a:r>
              <a:rPr lang="en-US" sz="1400" dirty="0">
                <a:solidFill>
                  <a:srgbClr val="1F2330"/>
                </a:solidFill>
                <a:latin typeface="Arial" pitchFamily="34" charset="0"/>
                <a:ea typeface="Arial" pitchFamily="34" charset="-122"/>
                <a:cs typeface="Arial" pitchFamily="34" charset="-120"/>
              </a:rPr>
              <a:t>LLM</a:t>
            </a:r>
            <a:endParaRPr lang="en-US" sz="1400" dirty="0"/>
          </a:p>
        </p:txBody>
      </p:sp>
      <p:sp>
        <p:nvSpPr>
          <p:cNvPr id="15" name="Shape 13"/>
          <p:cNvSpPr/>
          <p:nvPr/>
        </p:nvSpPr>
        <p:spPr>
          <a:xfrm>
            <a:off x="5715000" y="1874520"/>
            <a:ext cx="365760" cy="0"/>
          </a:xfrm>
          <a:prstGeom prst="line">
            <a:avLst/>
          </a:prstGeom>
          <a:noFill/>
          <a:ln w="19050">
            <a:solidFill>
              <a:srgbClr val="6B7280"/>
            </a:solidFill>
            <a:prstDash val="solid"/>
            <a:tailEnd type="triangle"/>
          </a:ln>
        </p:spPr>
      </p:sp>
      <p:sp>
        <p:nvSpPr>
          <p:cNvPr id="16" name="Shape 14"/>
          <p:cNvSpPr/>
          <p:nvPr/>
        </p:nvSpPr>
        <p:spPr>
          <a:xfrm>
            <a:off x="6126480" y="1554480"/>
            <a:ext cx="2377440" cy="640080"/>
          </a:xfrm>
          <a:prstGeom prst="roundRect">
            <a:avLst>
              <a:gd name="adj" fmla="val 14286"/>
            </a:avLst>
          </a:prstGeom>
          <a:solidFill>
            <a:srgbClr val="F1F2F4"/>
          </a:solidFill>
          <a:ln w="12700">
            <a:solidFill>
              <a:srgbClr val="F1F2F4"/>
            </a:solidFill>
            <a:prstDash val="solid"/>
          </a:ln>
        </p:spPr>
      </p:sp>
      <p:sp>
        <p:nvSpPr>
          <p:cNvPr id="17" name="Text 15"/>
          <p:cNvSpPr/>
          <p:nvPr/>
        </p:nvSpPr>
        <p:spPr>
          <a:xfrm>
            <a:off x="6126480" y="1554480"/>
            <a:ext cx="2377440" cy="640080"/>
          </a:xfrm>
          <a:prstGeom prst="rect">
            <a:avLst/>
          </a:prstGeom>
          <a:noFill/>
          <a:ln/>
        </p:spPr>
        <p:txBody>
          <a:bodyPr wrap="square" lIns="0" tIns="0" rIns="0" bIns="0" rtlCol="0" anchor="ctr"/>
          <a:lstStyle/>
          <a:p>
            <a:pPr algn="ctr" indent="0" marL="0">
              <a:buNone/>
            </a:pPr>
            <a:r>
              <a:rPr lang="en-US" sz="1400" dirty="0">
                <a:solidFill>
                  <a:srgbClr val="1F2330"/>
                </a:solidFill>
                <a:latin typeface="Arial" pitchFamily="34" charset="0"/>
                <a:ea typeface="Arial" pitchFamily="34" charset="-122"/>
                <a:cs typeface="Arial" pitchFamily="34" charset="-120"/>
              </a:rPr>
              <a:t>Text to speech</a:t>
            </a:r>
            <a:endParaRPr lang="en-US" sz="1400" dirty="0"/>
          </a:p>
        </p:txBody>
      </p:sp>
      <p:sp>
        <p:nvSpPr>
          <p:cNvPr id="18" name="Text 16"/>
          <p:cNvSpPr/>
          <p:nvPr/>
        </p:nvSpPr>
        <p:spPr>
          <a:xfrm>
            <a:off x="457200" y="2514600"/>
            <a:ext cx="8229600" cy="274320"/>
          </a:xfrm>
          <a:prstGeom prst="rect">
            <a:avLst/>
          </a:prstGeom>
          <a:noFill/>
          <a:ln/>
        </p:spPr>
        <p:txBody>
          <a:bodyPr wrap="square" lIns="0" tIns="0" rIns="0" bIns="0" rtlCol="0" anchor="ctr"/>
          <a:lstStyle/>
          <a:p>
            <a:pPr indent="0" marL="0">
              <a:buNone/>
            </a:pPr>
            <a:r>
              <a:rPr lang="en-US" sz="1300" b="1" dirty="0">
                <a:solidFill>
                  <a:srgbClr val="2D1B69"/>
                </a:solidFill>
                <a:latin typeface="Arial" pitchFamily="34" charset="0"/>
                <a:ea typeface="Arial" pitchFamily="34" charset="-122"/>
                <a:cs typeface="Arial" pitchFamily="34" charset="-120"/>
              </a:rPr>
              <a:t>Voice Live: one WebSocket, audio in → audio out  ·  low latency</a:t>
            </a:r>
            <a:endParaRPr lang="en-US" sz="1300" dirty="0"/>
          </a:p>
        </p:txBody>
      </p:sp>
      <p:sp>
        <p:nvSpPr>
          <p:cNvPr id="19" name="Shape 17"/>
          <p:cNvSpPr/>
          <p:nvPr/>
        </p:nvSpPr>
        <p:spPr>
          <a:xfrm>
            <a:off x="457200" y="2880360"/>
            <a:ext cx="8046720" cy="640080"/>
          </a:xfrm>
          <a:prstGeom prst="roundRect">
            <a:avLst>
              <a:gd name="adj" fmla="val 14286"/>
            </a:avLst>
          </a:prstGeom>
          <a:solidFill>
            <a:srgbClr val="2D1B69"/>
          </a:solidFill>
          <a:ln w="12700">
            <a:solidFill>
              <a:srgbClr val="2D1B69"/>
            </a:solidFill>
            <a:prstDash val="solid"/>
          </a:ln>
        </p:spPr>
      </p:sp>
      <p:sp>
        <p:nvSpPr>
          <p:cNvPr id="20" name="Text 18"/>
          <p:cNvSpPr/>
          <p:nvPr/>
        </p:nvSpPr>
        <p:spPr>
          <a:xfrm>
            <a:off x="457200" y="2880360"/>
            <a:ext cx="80467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Voice Live  —  STT + LLM + TTS + noise suppression + echo cancellation + turn detection</a:t>
            </a:r>
            <a:endParaRPr lang="en-US" sz="1400" dirty="0"/>
          </a:p>
        </p:txBody>
      </p:sp>
      <p:sp>
        <p:nvSpPr>
          <p:cNvPr id="21" name="Text 19"/>
          <p:cNvSpPr/>
          <p:nvPr/>
        </p:nvSpPr>
        <p:spPr>
          <a:xfrm>
            <a:off x="457200" y="3749040"/>
            <a:ext cx="8229600" cy="45720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Fully managed — nothing to deploy. Choose gpt-realtime, GPT-5, GPT-4.1, Phi… Connect a Foundry agent directly.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AZURE-AI-VOICELIVE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A voice agent in ~40 lines</a:t>
            </a:r>
            <a:endParaRPr lang="en-US" sz="2600" dirty="0"/>
          </a:p>
        </p:txBody>
      </p:sp>
      <p:sp>
        <p:nvSpPr>
          <p:cNvPr id="9" name="Shape 7"/>
          <p:cNvSpPr/>
          <p:nvPr/>
        </p:nvSpPr>
        <p:spPr>
          <a:xfrm>
            <a:off x="457200" y="1188720"/>
            <a:ext cx="5394960" cy="3200400"/>
          </a:xfrm>
          <a:prstGeom prst="roundRect">
            <a:avLst>
              <a:gd name="adj" fmla="val 2286"/>
            </a:avLst>
          </a:prstGeom>
          <a:solidFill>
            <a:srgbClr val="F5F6F8"/>
          </a:solidFill>
          <a:ln w="12700">
            <a:solidFill>
              <a:srgbClr val="E5E7EB"/>
            </a:solidFill>
            <a:prstDash val="solid"/>
          </a:ln>
        </p:spPr>
      </p:sp>
      <p:sp>
        <p:nvSpPr>
          <p:cNvPr id="10" name="Text 8"/>
          <p:cNvSpPr/>
          <p:nvPr/>
        </p:nvSpPr>
        <p:spPr>
          <a:xfrm>
            <a:off x="594360" y="1280160"/>
            <a:ext cx="5120640" cy="3017520"/>
          </a:xfrm>
          <a:prstGeom prst="rect">
            <a:avLst/>
          </a:prstGeom>
          <a:noFill/>
          <a:ln/>
        </p:spPr>
        <p:txBody>
          <a:bodyPr wrap="square" lIns="0" tIns="0" rIns="0" bIns="0" rtlCol="0" anchor="t"/>
          <a:lstStyle/>
          <a:p>
            <a:pPr indent="0" marL="0">
              <a:buNone/>
            </a:pPr>
            <a:r>
              <a:rPr lang="en-US" sz="1000" dirty="0">
                <a:solidFill>
                  <a:srgbClr val="1F2330"/>
                </a:solidFill>
                <a:latin typeface="Courier New" pitchFamily="34" charset="0"/>
                <a:ea typeface="Courier New" pitchFamily="34" charset="-122"/>
                <a:cs typeface="Courier New" pitchFamily="34" charset="-120"/>
              </a:rPr>
              <a:t>async with connect(endpoint=ep, credential=cred,</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model="gpt-realtime-mini") as conn: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await conn.session.update(session=RequestSession(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instructions="You are a friendly AI teacher.",</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voice=AzureStandardVoice(name="en-US-AvaNeural"),</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input_audio_noise_reduction=AudioNoiseReduction(...),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input_audio_echo_cancellation=AudioEchoCancellation(),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turn_detection=AzureSemanticVad()))</a:t>
            </a:r>
            <a:endParaRPr lang="en-US" sz="1000" dirty="0"/>
          </a:p>
          <a:p>
            <a:pPr indent="0" marL="0">
              <a:buNone/>
            </a:pP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async for event in conn:          # mic audio streams in</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if event.type == RESPONSE_AUDIO_DELTA:</a:t>
            </a:r>
            <a:endParaRPr lang="en-US" sz="1000" dirty="0"/>
          </a:p>
          <a:p>
            <a:pPr indent="0" marL="0">
              <a:buNone/>
            </a:pPr>
            <a:r>
              <a:rPr lang="en-US" sz="1000" dirty="0">
                <a:solidFill>
                  <a:srgbClr val="1F2330"/>
                </a:solidFill>
                <a:latin typeface="Courier New" pitchFamily="34" charset="0"/>
                <a:ea typeface="Courier New" pitchFamily="34" charset="-122"/>
                <a:cs typeface="Courier New" pitchFamily="34" charset="-120"/>
              </a:rPr>
              <a:t>            speaker.write(event.delta)</a:t>
            </a:r>
            <a:endParaRPr lang="en-US" sz="1000" dirty="0"/>
          </a:p>
        </p:txBody>
      </p:sp>
      <p:sp>
        <p:nvSpPr>
          <p:cNvPr id="11" name="Text 9"/>
          <p:cNvSpPr/>
          <p:nvPr/>
        </p:nvSpPr>
        <p:spPr>
          <a:xfrm>
            <a:off x="6126480" y="1234440"/>
            <a:ext cx="256032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Run: python 10_voice_live.py</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No mic? add --text "your question"</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Speak over it to interrupt (barge-in)</a:t>
            </a:r>
            <a:endParaRPr lang="en-US" sz="1400" dirty="0"/>
          </a:p>
          <a:p>
            <a:pPr marL="342900" indent="-342900">
              <a:spcAft>
                <a:spcPts val="800"/>
              </a:spcAft>
              <a:buSzPct val="100000"/>
              <a:buChar char="•"/>
            </a:pPr>
            <a:r>
              <a:rPr lang="en-US" sz="1400" dirty="0">
                <a:solidFill>
                  <a:srgbClr val="1F2330"/>
                </a:solidFill>
                <a:latin typeface="Arial" pitchFamily="34" charset="0"/>
                <a:ea typeface="Arial" pitchFamily="34" charset="-122"/>
                <a:cs typeface="Arial" pitchFamily="34" charset="-120"/>
              </a:rPr>
              <a:t>Use headphones</a:t>
            </a:r>
            <a:endParaRPr lang="en-US" sz="1400" dirty="0"/>
          </a:p>
        </p:txBody>
      </p:sp>
      <p:sp>
        <p:nvSpPr>
          <p:cNvPr id="12" name="Shape 10"/>
          <p:cNvSpPr/>
          <p:nvPr/>
        </p:nvSpPr>
        <p:spPr>
          <a:xfrm>
            <a:off x="457200" y="4572000"/>
            <a:ext cx="5669280" cy="329184"/>
          </a:xfrm>
          <a:prstGeom prst="roundRect">
            <a:avLst>
              <a:gd name="adj" fmla="val 50000"/>
            </a:avLst>
          </a:prstGeom>
          <a:solidFill>
            <a:srgbClr val="FDF1DC"/>
          </a:solidFill>
          <a:ln w="12700">
            <a:solidFill>
              <a:srgbClr val="FDF1DC"/>
            </a:solidFill>
            <a:prstDash val="solid"/>
          </a:ln>
        </p:spPr>
      </p:sp>
      <p:sp>
        <p:nvSpPr>
          <p:cNvPr id="13" name="Text 11"/>
          <p:cNvSpPr/>
          <p:nvPr/>
        </p:nvSpPr>
        <p:spPr>
          <a:xfrm>
            <a:off x="594360" y="4572000"/>
            <a:ext cx="5486400" cy="329184"/>
          </a:xfrm>
          <a:prstGeom prst="rect">
            <a:avLst/>
          </a:prstGeom>
          <a:noFill/>
          <a:ln/>
        </p:spPr>
        <p:txBody>
          <a:bodyPr wrap="square" lIns="0" tIns="0" rIns="0" bIns="0" rtlCol="0" anchor="ctr"/>
          <a:lstStyle/>
          <a:p>
            <a:pPr indent="0" marL="0">
              <a:buNone/>
            </a:pPr>
            <a:r>
              <a:rPr lang="en-US" sz="1100" b="1" dirty="0">
                <a:solidFill>
                  <a:srgbClr val="B7791F"/>
                </a:solidFill>
                <a:latin typeface="Arial" pitchFamily="34" charset="0"/>
                <a:ea typeface="Arial" pitchFamily="34" charset="-122"/>
                <a:cs typeface="Arial" pitchFamily="34" charset="-120"/>
              </a:rPr>
              <a:t>DEMO  </a:t>
            </a:r>
            <a:pPr indent="0" marL="0">
              <a:buNone/>
            </a:pPr>
            <a:r>
              <a:rPr lang="en-US" sz="1100" dirty="0">
                <a:solidFill>
                  <a:srgbClr val="1F2330"/>
                </a:solidFill>
                <a:latin typeface="Courier New" pitchFamily="34" charset="0"/>
                <a:ea typeface="Courier New" pitchFamily="34" charset="-122"/>
                <a:cs typeface="Courier New" pitchFamily="34" charset="-120"/>
              </a:rPr>
              <a:t>10_voice_live.py</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1821942"/>
            <a:ext cx="64008" cy="288036"/>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1657350"/>
            <a:ext cx="64008" cy="61722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1554480"/>
            <a:ext cx="64008" cy="82296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1719072"/>
            <a:ext cx="64008" cy="493776"/>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1842516"/>
            <a:ext cx="64008" cy="246888"/>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2514600"/>
            <a:ext cx="2743200" cy="365760"/>
          </a:xfrm>
          <a:prstGeom prst="rect">
            <a:avLst/>
          </a:prstGeom>
          <a:noFill/>
          <a:ln/>
        </p:spPr>
        <p:txBody>
          <a:bodyPr wrap="square" lIns="0" tIns="0" rIns="0" bIns="0" rtlCol="0" anchor="ctr"/>
          <a:lstStyle/>
          <a:p>
            <a:pPr indent="0" marL="0">
              <a:buNone/>
            </a:pPr>
            <a:r>
              <a:rPr lang="en-US" sz="1400" b="1" dirty="0">
                <a:solidFill>
                  <a:srgbClr val="F5A524"/>
                </a:solidFill>
                <a:latin typeface="Arial" pitchFamily="34" charset="0"/>
                <a:ea typeface="Arial" pitchFamily="34" charset="-122"/>
                <a:cs typeface="Arial" pitchFamily="34" charset="-120"/>
              </a:rPr>
              <a:t>06</a:t>
            </a:r>
            <a:endParaRPr lang="en-US" sz="1400" dirty="0"/>
          </a:p>
        </p:txBody>
      </p:sp>
      <p:sp>
        <p:nvSpPr>
          <p:cNvPr id="8" name="Text 6"/>
          <p:cNvSpPr/>
          <p:nvPr/>
        </p:nvSpPr>
        <p:spPr>
          <a:xfrm>
            <a:off x="640080" y="2834640"/>
            <a:ext cx="786384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Cost, security &amp; choosing</a:t>
            </a:r>
            <a:endParaRPr lang="en-US" sz="3800" dirty="0"/>
          </a:p>
        </p:txBody>
      </p:sp>
      <p:sp>
        <p:nvSpPr>
          <p:cNvPr id="9" name="Text 7"/>
          <p:cNvSpPr/>
          <p:nvPr/>
        </p:nvSpPr>
        <p:spPr>
          <a:xfrm>
            <a:off x="640080" y="3566160"/>
            <a:ext cx="7863840" cy="457200"/>
          </a:xfrm>
          <a:prstGeom prst="rect">
            <a:avLst/>
          </a:prstGeom>
          <a:noFill/>
          <a:ln/>
        </p:spPr>
        <p:txBody>
          <a:bodyPr wrap="square" lIns="0" tIns="0" rIns="0" bIns="0" rtlCol="0" anchor="ctr"/>
          <a:lstStyle/>
          <a:p>
            <a:pPr indent="0" marL="0">
              <a:buNone/>
            </a:pPr>
            <a:r>
              <a:rPr lang="en-US" sz="1600" dirty="0">
                <a:solidFill>
                  <a:srgbClr val="C9C2EA"/>
                </a:solidFill>
                <a:latin typeface="Arial" pitchFamily="34" charset="0"/>
                <a:ea typeface="Arial" pitchFamily="34" charset="-122"/>
                <a:cs typeface="Arial" pitchFamily="34" charset="-120"/>
              </a:rPr>
              <a:t>What it costs and how to decide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PAY AS YOU GO · EAST US 2</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Azure Speech pricing</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2468880"/>
                <a:gridCol w="24688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Price (USD)</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Free tier (F0)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Speech to text — real-time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$1.00 / audio hour</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5 hours / month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Fast transcription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$0.36 / hour</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Custom speech to text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$1.20 / hour</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Neural text to speech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$15 / 1M characters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0.5M characters / month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Neural HD voices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$22 / 1M characters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Speech translation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$2.50 / audio hour</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5 hours / month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Translator (text)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$10 / 1M characters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2M characters / month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4846320"/>
            <a:ext cx="82296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Source: Azure Retail Prices API, East US 2, retrieved 27 Sep 2026. Prices vary by region — confirm with the Azure pricing calculator.</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GLOBAL STANDARD · PER 1M TOKENS</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OpenAI audio model pricing</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1188720"/>
                <a:gridCol w="1188720"/>
                <a:gridCol w="1828800"/>
                <a:gridCol w="18288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Audio in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Audio out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Text in / out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 per minute*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gpt-4o-mini-transcribe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$1.25 / $5</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$0.003</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gpt-4o-transcribe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$2.50 / $10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$0.006</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gpt-4o-mini-tts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$0.60 in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$0.015</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gpt-audio-mini</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$0.60 / $2.40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gpt-realtime-mini</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$0.60 / $2.40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gpt-realtime-2.1</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$64</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$4 / $24</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bl>
          </a:graphicData>
        </a:graphic>
      </p:graphicFrame>
      <p:sp>
        <p:nvSpPr>
          <p:cNvPr id="10" name="Text 7"/>
          <p:cNvSpPr/>
          <p:nvPr/>
        </p:nvSpPr>
        <p:spPr>
          <a:xfrm>
            <a:off x="457200" y="4069080"/>
            <a:ext cx="8229600" cy="365760"/>
          </a:xfrm>
          <a:prstGeom prst="rect">
            <a:avLst/>
          </a:prstGeom>
          <a:noFill/>
          <a:ln/>
        </p:spPr>
        <p:txBody>
          <a:bodyPr wrap="square" lIns="0" tIns="0" rIns="0" bIns="0" rtlCol="0" anchor="ctr"/>
          <a:lstStyle/>
          <a:p>
            <a:pPr indent="0" marL="0">
              <a:buNone/>
            </a:pPr>
            <a:r>
              <a:rPr lang="en-US" sz="1100" i="1" dirty="0">
                <a:solidFill>
                  <a:srgbClr val="6B7280"/>
                </a:solidFill>
                <a:latin typeface="Arial" pitchFamily="34" charset="0"/>
                <a:ea typeface="Arial" pitchFamily="34" charset="-122"/>
                <a:cs typeface="Arial" pitchFamily="34" charset="-120"/>
              </a:rPr>
              <a:t>* OpenAI's published per-minute estimates. gpt-4o-transcribe-diarize is billed like gpt-4o-transcribe — check the calculator.</a:t>
            </a:r>
            <a:endParaRPr lang="en-US" sz="1100" dirty="0"/>
          </a:p>
        </p:txBody>
      </p:sp>
      <p:sp>
        <p:nvSpPr>
          <p:cNvPr id="11" name="Text 8"/>
          <p:cNvSpPr/>
          <p:nvPr/>
        </p:nvSpPr>
        <p:spPr>
          <a:xfrm>
            <a:off x="457200" y="4846320"/>
            <a:ext cx="82296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Source: Azure Retail Prices API, East US 2, Global Standard, retrieved 27 Sep 2026. Data Zone / Regional deployments cost ~10% more.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WHAT WOULD IT COST?</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Worked example: 100 hours of call recordings</a:t>
            </a:r>
            <a:endParaRPr lang="en-US" sz="2600" dirty="0"/>
          </a:p>
        </p:txBody>
      </p:sp>
      <p:graphicFrame>
        <p:nvGraphicFramePr>
          <p:cNvPr id="9" name="Chart 0" descr=""/>
          <p:cNvGraphicFramePr/>
          <p:nvPr/>
        </p:nvGraphicFramePr>
        <p:xfrm>
          <a:off x="457200" y="114300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669280" y="1188720"/>
            <a:ext cx="3017520" cy="3200400"/>
          </a:xfrm>
          <a:prstGeom prst="roundRect">
            <a:avLst>
              <a:gd name="adj" fmla="val 3030"/>
            </a:avLst>
          </a:prstGeom>
          <a:solidFill>
            <a:srgbClr val="F3F0FF"/>
          </a:solidFill>
          <a:ln w="12700">
            <a:solidFill>
              <a:srgbClr val="F3F0FF"/>
            </a:solidFill>
            <a:prstDash val="solid"/>
          </a:ln>
        </p:spPr>
      </p:sp>
      <p:sp>
        <p:nvSpPr>
          <p:cNvPr id="11" name="Text 8"/>
          <p:cNvSpPr/>
          <p:nvPr/>
        </p:nvSpPr>
        <p:spPr>
          <a:xfrm>
            <a:off x="5852160" y="1325880"/>
            <a:ext cx="265176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Takeaways</a:t>
            </a:r>
            <a:endParaRPr lang="en-US" sz="1400" dirty="0"/>
          </a:p>
        </p:txBody>
      </p:sp>
      <p:sp>
        <p:nvSpPr>
          <p:cNvPr id="12" name="Text 9"/>
          <p:cNvSpPr/>
          <p:nvPr/>
        </p:nvSpPr>
        <p:spPr>
          <a:xfrm>
            <a:off x="5852160" y="1664208"/>
            <a:ext cx="2651760" cy="260604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 Batch / file jobs: mini-transcribe or Fast transcription</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Live captions, mic, phone: Speech real-time</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Need diarization or a summary? Add it — still cents per call</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 Always check the calculator for your region</a:t>
            </a:r>
            <a:endParaRPr lang="en-US" sz="1200" dirty="0"/>
          </a:p>
        </p:txBody>
      </p:sp>
      <p:sp>
        <p:nvSpPr>
          <p:cNvPr id="13" name="Text 10"/>
          <p:cNvSpPr/>
          <p:nvPr/>
        </p:nvSpPr>
        <p:spPr>
          <a:xfrm>
            <a:off x="457200" y="4846320"/>
            <a:ext cx="82296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Illustrative, list prices, East US 2, Sept 2026. Excludes storage, network and commitment discounts.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DECISION GUIDE</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How to choose</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572000"/>
                <a:gridCol w="36576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If you need…</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Tone steered by a prompt; quick GenAI prototype</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gpt-4o-mini-tts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Cheap, accurate transcription of files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gpt-4o-mini-transcribe · Fast transcription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Live mic captions, long meetings, streaming</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Speech SDK continuous recognition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Speaker labels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gpt-4o-transcribe-diarize · Speech diarization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Summaries, sentiment, Q&amp;A about audio</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gpt-audio-mini</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SSML, 600+ voices, custom voice, 100+ languages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Azure Speech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Speech-to-speech translation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Speech translation (TranslationRecognizer)</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Real-time voice agent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Voice Live (+ Foundry agent)</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SECURITY</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Secure it: keyless by default</a:t>
            </a:r>
            <a:endParaRPr lang="en-US" sz="2600" dirty="0"/>
          </a:p>
        </p:txBody>
      </p:sp>
      <p:sp>
        <p:nvSpPr>
          <p:cNvPr id="9" name="Shape 7"/>
          <p:cNvSpPr/>
          <p:nvPr/>
        </p:nvSpPr>
        <p:spPr>
          <a:xfrm>
            <a:off x="457200" y="1188720"/>
            <a:ext cx="2651760" cy="3017520"/>
          </a:xfrm>
          <a:prstGeom prst="roundRect">
            <a:avLst>
              <a:gd name="adj" fmla="val 3448"/>
            </a:avLst>
          </a:prstGeom>
          <a:solidFill>
            <a:srgbClr val="F3F0FF"/>
          </a:solidFill>
          <a:ln w="12700">
            <a:solidFill>
              <a:srgbClr val="F3F0FF"/>
            </a:solidFill>
            <a:prstDash val="solid"/>
          </a:ln>
        </p:spPr>
      </p:sp>
      <p:sp>
        <p:nvSpPr>
          <p:cNvPr id="10" name="Text 8"/>
          <p:cNvSpPr/>
          <p:nvPr/>
        </p:nvSpPr>
        <p:spPr>
          <a:xfrm>
            <a:off x="64008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Keyless auth</a:t>
            </a:r>
            <a:endParaRPr lang="en-US" sz="1400" dirty="0"/>
          </a:p>
        </p:txBody>
      </p:sp>
      <p:sp>
        <p:nvSpPr>
          <p:cNvPr id="11" name="Text 9"/>
          <p:cNvSpPr/>
          <p:nvPr/>
        </p:nvSpPr>
        <p:spPr>
          <a:xfrm>
            <a:off x="640080" y="1664208"/>
            <a:ext cx="2286000" cy="242316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DefaultAzureCredential</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Local: az login</a:t>
            </a: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Azure: managed identity</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No secrets in code</a:t>
            </a:r>
            <a:endParaRPr lang="en-US" sz="1200" dirty="0"/>
          </a:p>
        </p:txBody>
      </p:sp>
      <p:sp>
        <p:nvSpPr>
          <p:cNvPr id="12" name="Shape 10"/>
          <p:cNvSpPr/>
          <p:nvPr/>
        </p:nvSpPr>
        <p:spPr>
          <a:xfrm>
            <a:off x="3246120" y="1188720"/>
            <a:ext cx="2651760" cy="3017520"/>
          </a:xfrm>
          <a:prstGeom prst="roundRect">
            <a:avLst>
              <a:gd name="adj" fmla="val 3448"/>
            </a:avLst>
          </a:prstGeom>
          <a:solidFill>
            <a:srgbClr val="F3F0FF"/>
          </a:solidFill>
          <a:ln w="12700">
            <a:solidFill>
              <a:srgbClr val="F3F0FF"/>
            </a:solidFill>
            <a:prstDash val="solid"/>
          </a:ln>
        </p:spPr>
      </p:sp>
      <p:sp>
        <p:nvSpPr>
          <p:cNvPr id="13" name="Text 11"/>
          <p:cNvSpPr/>
          <p:nvPr/>
        </p:nvSpPr>
        <p:spPr>
          <a:xfrm>
            <a:off x="342900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Least privilege</a:t>
            </a:r>
            <a:endParaRPr lang="en-US" sz="1400" dirty="0"/>
          </a:p>
        </p:txBody>
      </p:sp>
      <p:sp>
        <p:nvSpPr>
          <p:cNvPr id="14" name="Text 12"/>
          <p:cNvSpPr/>
          <p:nvPr/>
        </p:nvSpPr>
        <p:spPr>
          <a:xfrm>
            <a:off x="3429000" y="1664208"/>
            <a:ext cx="2286000" cy="242316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Cognitive Services User — call APIs</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Cognitive Services OpenAI User — OpenAI only</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Azure AI User — Foundry &amp; agents</a:t>
            </a:r>
            <a:endParaRPr lang="en-US" sz="1200" dirty="0"/>
          </a:p>
        </p:txBody>
      </p:sp>
      <p:sp>
        <p:nvSpPr>
          <p:cNvPr id="15" name="Shape 13"/>
          <p:cNvSpPr/>
          <p:nvPr/>
        </p:nvSpPr>
        <p:spPr>
          <a:xfrm>
            <a:off x="6035040" y="1188720"/>
            <a:ext cx="2651760" cy="3017520"/>
          </a:xfrm>
          <a:prstGeom prst="roundRect">
            <a:avLst>
              <a:gd name="adj" fmla="val 3448"/>
            </a:avLst>
          </a:prstGeom>
          <a:solidFill>
            <a:srgbClr val="FFF6E6"/>
          </a:solidFill>
          <a:ln w="12700">
            <a:solidFill>
              <a:srgbClr val="FFF6E6"/>
            </a:solidFill>
            <a:prstDash val="solid"/>
          </a:ln>
        </p:spPr>
      </p:sp>
      <p:sp>
        <p:nvSpPr>
          <p:cNvPr id="16" name="Text 14"/>
          <p:cNvSpPr/>
          <p:nvPr/>
        </p:nvSpPr>
        <p:spPr>
          <a:xfrm>
            <a:off x="6217920" y="1325880"/>
            <a:ext cx="2286000" cy="320040"/>
          </a:xfrm>
          <a:prstGeom prst="rect">
            <a:avLst/>
          </a:prstGeom>
          <a:noFill/>
          <a:ln/>
        </p:spPr>
        <p:txBody>
          <a:bodyPr wrap="square" lIns="0" tIns="0" rIns="0" bIns="0" rtlCol="0" anchor="ctr"/>
          <a:lstStyle/>
          <a:p>
            <a:pPr indent="0" marL="0">
              <a:buNone/>
            </a:pPr>
            <a:r>
              <a:rPr lang="en-US" sz="1400" b="1" dirty="0">
                <a:solidFill>
                  <a:srgbClr val="2D1B69"/>
                </a:solidFill>
                <a:latin typeface="Arial" pitchFamily="34" charset="0"/>
                <a:ea typeface="Arial" pitchFamily="34" charset="-122"/>
                <a:cs typeface="Arial" pitchFamily="34" charset="-120"/>
              </a:rPr>
              <a:t>If you must use keys</a:t>
            </a:r>
            <a:endParaRPr lang="en-US" sz="1400" dirty="0"/>
          </a:p>
        </p:txBody>
      </p:sp>
      <p:sp>
        <p:nvSpPr>
          <p:cNvPr id="17" name="Text 15"/>
          <p:cNvSpPr/>
          <p:nvPr/>
        </p:nvSpPr>
        <p:spPr>
          <a:xfrm>
            <a:off x="6217920" y="1664208"/>
            <a:ext cx="2286000" cy="2423160"/>
          </a:xfrm>
          <a:prstGeom prst="rect">
            <a:avLst/>
          </a:prstGeom>
          <a:noFill/>
          <a:ln/>
        </p:spPr>
        <p:txBody>
          <a:bodyPr wrap="square" lIns="0" tIns="0" rIns="0" bIns="0" rtlCol="0" anchor="t"/>
          <a:lstStyle/>
          <a:p>
            <a:pPr indent="0" marL="0">
              <a:buNone/>
            </a:pPr>
            <a:r>
              <a:rPr lang="en-US" sz="1200" dirty="0">
                <a:solidFill>
                  <a:srgbClr val="1F2330"/>
                </a:solidFill>
                <a:latin typeface="Arial" pitchFamily="34" charset="0"/>
                <a:ea typeface="Arial" pitchFamily="34" charset="-122"/>
                <a:cs typeface="Arial" pitchFamily="34" charset="-120"/>
              </a:rPr>
              <a:t>Store in Key Vault</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Rotate KEY1 / KEY2</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Never in slides, docs or git</a:t>
            </a:r>
            <a:endParaRPr lang="en-US" sz="1200" dirty="0"/>
          </a:p>
          <a:p>
            <a:pPr indent="0" marL="0">
              <a:buNone/>
            </a:pPr>
            <a:endParaRPr lang="en-US" sz="1200" dirty="0"/>
          </a:p>
          <a:p>
            <a:pPr indent="0" marL="0">
              <a:buNone/>
            </a:pPr>
            <a:r>
              <a:rPr lang="en-US" sz="1200" dirty="0">
                <a:solidFill>
                  <a:srgbClr val="1F2330"/>
                </a:solidFill>
                <a:latin typeface="Arial" pitchFamily="34" charset="0"/>
                <a:ea typeface="Arial" pitchFamily="34" charset="-122"/>
                <a:cs typeface="Arial" pitchFamily="34" charset="-120"/>
              </a:rPr>
              <a:t>Private endpoints for production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9146"/>
            <a:ext cx="64008" cy="102413"/>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576072" y="420624"/>
            <a:ext cx="64008" cy="219456"/>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694944" y="384048"/>
            <a:ext cx="64008" cy="292608"/>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813816" y="442570"/>
            <a:ext cx="64008" cy="175565"/>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932688" y="486461"/>
            <a:ext cx="64008" cy="87782"/>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1143000" y="274320"/>
            <a:ext cx="7315200" cy="228600"/>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AI-103 · AI-102</a:t>
            </a:r>
            <a:endParaRPr lang="en-US" sz="1000" dirty="0"/>
          </a:p>
        </p:txBody>
      </p:sp>
      <p:sp>
        <p:nvSpPr>
          <p:cNvPr id="8" name="Text 6"/>
          <p:cNvSpPr/>
          <p:nvPr/>
        </p:nvSpPr>
        <p:spPr>
          <a:xfrm>
            <a:off x="1143000" y="475488"/>
            <a:ext cx="7589520" cy="457200"/>
          </a:xfrm>
          <a:prstGeom prst="rect">
            <a:avLst/>
          </a:prstGeom>
          <a:noFill/>
          <a:ln/>
        </p:spPr>
        <p:txBody>
          <a:bodyPr wrap="square" lIns="0" tIns="0" rIns="0" bIns="0" rtlCol="0" anchor="ctr"/>
          <a:lstStyle/>
          <a:p>
            <a:pPr indent="0" marL="0">
              <a:buNone/>
            </a:pPr>
            <a:r>
              <a:rPr lang="en-US" sz="2600" b="1" dirty="0">
                <a:solidFill>
                  <a:srgbClr val="2D1B69"/>
                </a:solidFill>
                <a:latin typeface="Arial" pitchFamily="34" charset="0"/>
                <a:ea typeface="Arial" pitchFamily="34" charset="-122"/>
                <a:cs typeface="Arial" pitchFamily="34" charset="-120"/>
              </a:rPr>
              <a:t>Where this shows up in the exams</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760720"/>
                <a:gridCol w="24688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Exam skill</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Today's demos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D1B69"/>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AI-103: STT &amp; TTS for agentic interactions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01–05, 10</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AI-103: speech as an agent modality, custom speech</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10, 13</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AI-103: multimodal reasoning from audio</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AI-103: translate speech with LLMs &amp; Foundry Tools</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07–09</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AI-102: improve TTS with SSML</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AI-102: speech-to-speech &amp; speech-to-text translation</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08, 09</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AFC"/>
                    </a:solidFill>
                  </a:tcPr>
                </a:tc>
              </a:tr>
              <a:tr h="0">
                <a:tc>
                  <a:txBody>
                    <a:bodyPr/>
                    <a:lstStyle/>
                    <a:p>
                      <a:pPr indent="0" marL="0">
                        <a:buNone/>
                      </a:pPr>
                      <a:r>
                        <a:rPr lang="en-US" sz="1200" dirty="0">
                          <a:solidFill>
                            <a:srgbClr val="1F2330"/>
                          </a:solidFill>
                          <a:latin typeface="Arial" pitchFamily="34" charset="0"/>
                          <a:ea typeface="Arial" pitchFamily="34" charset="-122"/>
                          <a:cs typeface="Arial" pitchFamily="34" charset="-120"/>
                        </a:rPr>
                        <a:t>Both: keyless credentials, managed identity</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330"/>
                          </a:solidFill>
                          <a:latin typeface="Arial" pitchFamily="34" charset="0"/>
                          <a:ea typeface="Arial" pitchFamily="34" charset="-122"/>
                          <a:cs typeface="Arial" pitchFamily="34" charset="-120"/>
                        </a:rPr>
                        <a:t>01–03, 07–09</a:t>
                      </a:r>
                      <a:endParaRPr lang="en-US" sz="1200" dirty="0">
                        <a:latin typeface="Arial" charset="0"/>
                        <a:ea typeface="Arial" charset="0"/>
                        <a:cs typeface="Arial" charset="0"/>
                      </a:endParaRPr>
                    </a:p>
                  </a:txBody>
                  <a:tcPr marL="76200" marR="76200" marT="50800" marB="508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4846320"/>
            <a:ext cx="82296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Source: Microsoft Learn study guides — AI-103 (skills as of 16 Apr 2026), AI-102 (as of 23 Dec 2025).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D1B69"/>
        </a:solidFill>
      </p:bgPr>
    </p:bg>
    <p:spTree>
      <p:nvGrpSpPr>
        <p:cNvPr id="1" name=""/>
        <p:cNvGrpSpPr/>
        <p:nvPr/>
      </p:nvGrpSpPr>
      <p:grpSpPr>
        <a:xfrm>
          <a:off x="0" y="0"/>
          <a:ext cx="0" cy="0"/>
          <a:chOff x="0" y="0"/>
          <a:chExt cx="0" cy="0"/>
        </a:xfrm>
      </p:grpSpPr>
      <p:sp>
        <p:nvSpPr>
          <p:cNvPr id="2" name="Shape 0"/>
          <p:cNvSpPr/>
          <p:nvPr/>
        </p:nvSpPr>
        <p:spPr>
          <a:xfrm>
            <a:off x="640080" y="969264"/>
            <a:ext cx="64008" cy="256032"/>
          </a:xfrm>
          <a:prstGeom prst="roundRect">
            <a:avLst>
              <a:gd name="adj" fmla="val 50000"/>
            </a:avLst>
          </a:prstGeom>
          <a:solidFill>
            <a:srgbClr val="F5A524"/>
          </a:solidFill>
          <a:ln w="12700">
            <a:solidFill>
              <a:srgbClr val="F5A524"/>
            </a:solidFill>
            <a:prstDash val="solid"/>
          </a:ln>
        </p:spPr>
      </p:sp>
      <p:sp>
        <p:nvSpPr>
          <p:cNvPr id="3" name="Shape 1"/>
          <p:cNvSpPr/>
          <p:nvPr/>
        </p:nvSpPr>
        <p:spPr>
          <a:xfrm>
            <a:off x="758952" y="822960"/>
            <a:ext cx="64008" cy="548640"/>
          </a:xfrm>
          <a:prstGeom prst="roundRect">
            <a:avLst>
              <a:gd name="adj" fmla="val 50000"/>
            </a:avLst>
          </a:prstGeom>
          <a:solidFill>
            <a:srgbClr val="F5A524"/>
          </a:solidFill>
          <a:ln w="12700">
            <a:solidFill>
              <a:srgbClr val="F5A524"/>
            </a:solidFill>
            <a:prstDash val="solid"/>
          </a:ln>
        </p:spPr>
      </p:sp>
      <p:sp>
        <p:nvSpPr>
          <p:cNvPr id="4" name="Shape 2"/>
          <p:cNvSpPr/>
          <p:nvPr/>
        </p:nvSpPr>
        <p:spPr>
          <a:xfrm>
            <a:off x="877824" y="731520"/>
            <a:ext cx="64008" cy="731520"/>
          </a:xfrm>
          <a:prstGeom prst="roundRect">
            <a:avLst>
              <a:gd name="adj" fmla="val 50000"/>
            </a:avLst>
          </a:prstGeom>
          <a:solidFill>
            <a:srgbClr val="F5A524"/>
          </a:solidFill>
          <a:ln w="12700">
            <a:solidFill>
              <a:srgbClr val="F5A524"/>
            </a:solidFill>
            <a:prstDash val="solid"/>
          </a:ln>
        </p:spPr>
      </p:sp>
      <p:sp>
        <p:nvSpPr>
          <p:cNvPr id="5" name="Shape 3"/>
          <p:cNvSpPr/>
          <p:nvPr/>
        </p:nvSpPr>
        <p:spPr>
          <a:xfrm>
            <a:off x="996696" y="877824"/>
            <a:ext cx="64008" cy="438912"/>
          </a:xfrm>
          <a:prstGeom prst="roundRect">
            <a:avLst>
              <a:gd name="adj" fmla="val 50000"/>
            </a:avLst>
          </a:prstGeom>
          <a:solidFill>
            <a:srgbClr val="F5A524"/>
          </a:solidFill>
          <a:ln w="12700">
            <a:solidFill>
              <a:srgbClr val="F5A524"/>
            </a:solidFill>
            <a:prstDash val="solid"/>
          </a:ln>
        </p:spPr>
      </p:sp>
      <p:sp>
        <p:nvSpPr>
          <p:cNvPr id="6" name="Shape 4"/>
          <p:cNvSpPr/>
          <p:nvPr/>
        </p:nvSpPr>
        <p:spPr>
          <a:xfrm>
            <a:off x="1115568" y="987552"/>
            <a:ext cx="64008" cy="219456"/>
          </a:xfrm>
          <a:prstGeom prst="roundRect">
            <a:avLst>
              <a:gd name="adj" fmla="val 50000"/>
            </a:avLst>
          </a:prstGeom>
          <a:solidFill>
            <a:srgbClr val="F5A524"/>
          </a:solidFill>
          <a:ln w="12700">
            <a:solidFill>
              <a:srgbClr val="F5A524"/>
            </a:solidFill>
            <a:prstDash val="solid"/>
          </a:ln>
        </p:spPr>
      </p:sp>
      <p:sp>
        <p:nvSpPr>
          <p:cNvPr id="7" name="Text 5"/>
          <p:cNvSpPr/>
          <p:nvPr/>
        </p:nvSpPr>
        <p:spPr>
          <a:xfrm>
            <a:off x="640080" y="164592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Recap</a:t>
            </a:r>
            <a:endParaRPr lang="en-US" sz="3600" dirty="0"/>
          </a:p>
        </p:txBody>
      </p:sp>
      <p:sp>
        <p:nvSpPr>
          <p:cNvPr id="8" name="Text 6"/>
          <p:cNvSpPr/>
          <p:nvPr/>
        </p:nvSpPr>
        <p:spPr>
          <a:xfrm>
            <a:off x="640080" y="2377440"/>
            <a:ext cx="7863840" cy="18288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Two toolkits: OpenAI audio models and Azure Speech — one resource</a:t>
            </a:r>
            <a:endParaRPr lang="en-US" sz="1600" dirty="0"/>
          </a:p>
          <a:p>
            <a:pPr marL="342900" indent="-3429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Speech SDK = config → audio → client → call → result</a:t>
            </a:r>
            <a:endParaRPr lang="en-US" sz="1600" dirty="0"/>
          </a:p>
          <a:p>
            <a:pPr marL="342900" indent="-3429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SSML for control; diarization for who; audio models for understanding</a:t>
            </a:r>
            <a:endParaRPr lang="en-US" sz="1600" dirty="0"/>
          </a:p>
          <a:p>
            <a:pPr marL="342900" indent="-3429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Voice Live for real-time agents</a:t>
            </a:r>
            <a:endParaRPr lang="en-US" sz="1600" dirty="0"/>
          </a:p>
          <a:p>
            <a:pPr marL="342900" indent="-3429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Choose on latency, languages, control and cost — go keyless</a:t>
            </a:r>
            <a:endParaRPr lang="en-US" sz="1600" dirty="0"/>
          </a:p>
        </p:txBody>
      </p:sp>
      <p:sp>
        <p:nvSpPr>
          <p:cNvPr id="9" name="Text 7"/>
          <p:cNvSpPr/>
          <p:nvPr/>
        </p:nvSpPr>
        <p:spPr>
          <a:xfrm>
            <a:off x="640080" y="4343400"/>
            <a:ext cx="7315200" cy="365760"/>
          </a:xfrm>
          <a:prstGeom prst="rect">
            <a:avLst/>
          </a:prstGeom>
          <a:noFill/>
          <a:ln/>
        </p:spPr>
        <p:txBody>
          <a:bodyPr wrap="square" lIns="0" tIns="0" rIns="0" bIns="0" rtlCol="0" anchor="ctr"/>
          <a:lstStyle/>
          <a:p>
            <a:pPr indent="0" marL="0">
              <a:buNone/>
            </a:pPr>
            <a:r>
              <a:rPr lang="en-US" sz="1600" b="1" dirty="0">
                <a:solidFill>
                  <a:srgbClr val="F5A524"/>
                </a:solidFill>
                <a:latin typeface="Arial" pitchFamily="34" charset="0"/>
                <a:ea typeface="Arial" pitchFamily="34" charset="-122"/>
                <a:cs typeface="Arial"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AI Speech</dc:title>
  <dc:subject>PptxGenJS Presentation</dc:subject>
  <dc:creator>PptxGenJS</dc:creator>
  <cp:lastModifiedBy>PptxGenJS</cp:lastModifiedBy>
  <cp:revision>1</cp:revision>
  <dcterms:created xsi:type="dcterms:W3CDTF">2026-09-27T01:04:44Z</dcterms:created>
  <dcterms:modified xsi:type="dcterms:W3CDTF">2026-09-27T01:04:44Z</dcterms:modified>
</cp:coreProperties>
</file>